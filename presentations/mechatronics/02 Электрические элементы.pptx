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80" r:id="rId1"/>
  </p:sldMasterIdLst>
  <p:notesMasterIdLst>
    <p:notesMasterId r:id="rId19"/>
  </p:notesMasterIdLst>
  <p:sldIdLst>
    <p:sldId id="256" r:id="rId2"/>
    <p:sldId id="340" r:id="rId3"/>
    <p:sldId id="344" r:id="rId4"/>
    <p:sldId id="345" r:id="rId5"/>
    <p:sldId id="346" r:id="rId6"/>
    <p:sldId id="347" r:id="rId7"/>
    <p:sldId id="258" r:id="rId8"/>
    <p:sldId id="299" r:id="rId9"/>
    <p:sldId id="348" r:id="rId10"/>
    <p:sldId id="300" r:id="rId11"/>
    <p:sldId id="301" r:id="rId12"/>
    <p:sldId id="349" r:id="rId13"/>
    <p:sldId id="352" r:id="rId14"/>
    <p:sldId id="353" r:id="rId15"/>
    <p:sldId id="350" r:id="rId16"/>
    <p:sldId id="354" r:id="rId17"/>
    <p:sldId id="351" r:id="rId18"/>
  </p:sldIdLst>
  <p:sldSz cx="9144000" cy="5143500" type="screen16x9"/>
  <p:notesSz cx="6858000" cy="9144000"/>
  <p:embeddedFontLst>
    <p:embeddedFont>
      <p:font typeface="Albert Sans" panose="020B0604020202020204" charset="0"/>
      <p:regular r:id="rId20"/>
      <p:bold r:id="rId21"/>
      <p:italic r:id="rId22"/>
      <p:boldItalic r:id="rId23"/>
    </p:embeddedFont>
    <p:embeddedFont>
      <p:font typeface="Alexandria Medium" panose="020B0604020202020204" charset="-78"/>
      <p:regular r:id="rId24"/>
      <p:bold r:id="rId25"/>
    </p:embeddedFont>
    <p:embeddedFont>
      <p:font typeface="Corbel" panose="020B0503020204020204" pitchFamily="34" charset="0"/>
      <p:regular r:id="rId26"/>
      <p:bold r:id="rId27"/>
      <p:italic r:id="rId28"/>
      <p:boldItalic r:id="rId29"/>
    </p:embeddedFont>
    <p:embeddedFont>
      <p:font typeface="Manrope" pitchFamily="2" charset="0"/>
      <p:regular r:id="rId30"/>
      <p:bold r:id="rId31"/>
    </p:embeddedFont>
    <p:embeddedFont>
      <p:font typeface="Manrope SemiBold" pitchFamily="2" charset="0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3ACAAF-F859-4650-9346-19197B8DDD12}">
  <a:tblStyle styleId="{7C3ACAAF-F859-4650-9346-19197B8DDD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D04D7B-301D-44AA-B008-C347228EFCB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594" y="7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14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10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0713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133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888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274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861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089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277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956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438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335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381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3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28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7" r:id="rId4"/>
    <p:sldLayoutId id="214748368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10" Type="http://schemas.openxmlformats.org/officeDocument/2006/relationships/image" Target="../media/image24.jpg"/><Relationship Id="rId4" Type="http://schemas.openxmlformats.org/officeDocument/2006/relationships/image" Target="../media/image18.webp"/><Relationship Id="rId9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1210047" y="3179263"/>
            <a:ext cx="6336322" cy="1391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>
                <a:latin typeface="Manrope SemiBold" pitchFamily="2" charset="0"/>
              </a:rPr>
              <a:t>Электрические элементы. Датчики</a:t>
            </a:r>
            <a:endParaRPr sz="4400" dirty="0">
              <a:latin typeface="Manrope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593E2-B334-5BD7-DB5D-362ECBDA8826}"/>
              </a:ext>
            </a:extLst>
          </p:cNvPr>
          <p:cNvSpPr txBox="1"/>
          <p:nvPr/>
        </p:nvSpPr>
        <p:spPr>
          <a:xfrm>
            <a:off x="329819" y="3138167"/>
            <a:ext cx="12678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dirty="0">
                <a:latin typeface="+mj-lt"/>
              </a:rPr>
              <a:t>2 </a:t>
            </a:r>
            <a:endParaRPr lang="ru-RU" sz="9600" dirty="0"/>
          </a:p>
        </p:txBody>
      </p:sp>
      <p:sp>
        <p:nvSpPr>
          <p:cNvPr id="3" name="Google Shape;191;p35">
            <a:extLst>
              <a:ext uri="{FF2B5EF4-FFF2-40B4-BE49-F238E27FC236}">
                <a16:creationId xmlns:a16="http://schemas.microsoft.com/office/drawing/2014/main" id="{302CE16F-4426-F6CC-25A8-3D055E447A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anrope" pitchFamily="2" charset="0"/>
              </a:rPr>
              <a:t>Практика 2025</a:t>
            </a:r>
            <a:endParaRPr b="1" dirty="0">
              <a:latin typeface="Manrope" pitchFamily="2" charset="0"/>
            </a:endParaRPr>
          </a:p>
        </p:txBody>
      </p:sp>
      <p:cxnSp>
        <p:nvCxnSpPr>
          <p:cNvPr id="4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F3B2CAD-8FA9-9D10-6786-3A32C6B32245}"/>
              </a:ext>
            </a:extLst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ED880-1402-AAA5-4293-1024DC86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99" y="3825550"/>
            <a:ext cx="7974579" cy="1253700"/>
          </a:xfrm>
        </p:spPr>
        <p:txBody>
          <a:bodyPr/>
          <a:lstStyle/>
          <a:p>
            <a:r>
              <a:rPr lang="ru-RU" sz="4400" dirty="0">
                <a:latin typeface="+mj-lt"/>
              </a:rPr>
              <a:t>Электрические компоненты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037B7B0-2863-31B0-57FC-632B168FA0D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17600" y="2571750"/>
            <a:ext cx="7708800" cy="1253700"/>
          </a:xfrm>
        </p:spPr>
        <p:txBody>
          <a:bodyPr/>
          <a:lstStyle/>
          <a:p>
            <a:r>
              <a:rPr lang="ru-RU" dirty="0">
                <a:latin typeface="+mj-lt"/>
              </a:rPr>
              <a:t>01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C4A6ACB8-CF5F-9E32-7C24-79193D9C8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19&quot; control panel - Operating &amp; observing - MPS® The Modular Production  System - Learning Systems - Festo Didactic">
            <a:extLst>
              <a:ext uri="{FF2B5EF4-FFF2-40B4-BE49-F238E27FC236}">
                <a16:creationId xmlns:a16="http://schemas.microsoft.com/office/drawing/2014/main" id="{D6FEEAC7-EC86-7BD5-BBCE-B91074D0E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782" y="1671459"/>
            <a:ext cx="2194322" cy="288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6461" y="41416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Выключатели и кнопки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536860" y="1195694"/>
            <a:ext cx="46416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Выключатели используются для </a:t>
            </a:r>
            <a:r>
              <a:rPr lang="ru-RU" sz="1800" b="1" dirty="0">
                <a:latin typeface="+mn-lt"/>
              </a:rPr>
              <a:t>пуска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>
                <a:latin typeface="+mn-lt"/>
              </a:rPr>
              <a:t>или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>
                <a:latin typeface="+mn-lt"/>
              </a:rPr>
              <a:t>прерывания</a:t>
            </a:r>
            <a:r>
              <a:rPr lang="ru-RU" sz="1800" dirty="0">
                <a:latin typeface="+mn-lt"/>
              </a:rPr>
              <a:t> тока в электрической цепи. В зависимости от конструкции, они могут быть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кнопочными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с фиксацией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61E3AE3-4382-7337-2F95-B50B59D96F4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Picture 4" descr="Подключение кнопки к Arduino - блог">
            <a:extLst>
              <a:ext uri="{FF2B5EF4-FFF2-40B4-BE49-F238E27FC236}">
                <a16:creationId xmlns:a16="http://schemas.microsoft.com/office/drawing/2014/main" id="{3F1B541B-AC8F-CB9C-A505-A0A19FBF1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097" y="955858"/>
            <a:ext cx="2194323" cy="137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Тумблеры, кнопки, выключатели интернет-магазин - КЕАЛАН">
            <a:extLst>
              <a:ext uri="{FF2B5EF4-FFF2-40B4-BE49-F238E27FC236}">
                <a16:creationId xmlns:a16="http://schemas.microsoft.com/office/drawing/2014/main" id="{5928BC0A-0B98-9EB0-A918-6316D5CB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952" y="2448843"/>
            <a:ext cx="3458289" cy="229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58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6461" y="41416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Выключатели и кнопки</a:t>
            </a:r>
            <a:endParaRPr dirty="0">
              <a:latin typeface="+mj-lt"/>
            </a:endParaRP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61E3AE3-4382-7337-2F95-B50B59D96F4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C67618-488C-8377-163E-76495A98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922" y="1260471"/>
            <a:ext cx="2636155" cy="25714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FB0476-81F9-4B7F-7A57-9CFC6FEB2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61" y="1311565"/>
            <a:ext cx="1965888" cy="25203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731D2D-8811-A459-E340-EE91BE6C5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10" y="1036966"/>
            <a:ext cx="794101" cy="101247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1ADED2-A13C-91D7-DA1E-E2D443D8C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034" y="962865"/>
            <a:ext cx="785683" cy="9949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004A36-971B-BFDA-A709-C8BDCDBFE3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650" y="1134304"/>
            <a:ext cx="2218489" cy="269763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74B6FF-BEE7-17FC-3A06-3D505A279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6032" y="1036965"/>
            <a:ext cx="641336" cy="1012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640A4-9D59-777E-7B2B-BC199FE6D3A0}"/>
              </a:ext>
            </a:extLst>
          </p:cNvPr>
          <p:cNvSpPr txBox="1"/>
          <p:nvPr/>
        </p:nvSpPr>
        <p:spPr>
          <a:xfrm>
            <a:off x="874826" y="3998641"/>
            <a:ext cx="23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n-lt"/>
              </a:rPr>
              <a:t>нормально </a:t>
            </a:r>
          </a:p>
          <a:p>
            <a:r>
              <a:rPr lang="ru-RU" b="1" dirty="0">
                <a:latin typeface="+mn-lt"/>
              </a:rPr>
              <a:t>открытый</a:t>
            </a:r>
            <a:r>
              <a:rPr lang="ru-RU" dirty="0">
                <a:latin typeface="+mn-lt"/>
              </a:rPr>
              <a:t> контакт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905BAE-04F3-1794-1BB8-D7330C50C480}"/>
              </a:ext>
            </a:extLst>
          </p:cNvPr>
          <p:cNvSpPr txBox="1"/>
          <p:nvPr/>
        </p:nvSpPr>
        <p:spPr>
          <a:xfrm>
            <a:off x="3643078" y="3998641"/>
            <a:ext cx="23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indent="0">
              <a:buFont typeface="Corbel" pitchFamily="34" charset="0"/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нормально </a:t>
            </a:r>
          </a:p>
          <a:p>
            <a:pPr marL="45720" indent="0">
              <a:buFont typeface="Corbel" pitchFamily="34" charset="0"/>
              <a:buNone/>
            </a:pPr>
            <a:r>
              <a:rPr lang="ru-RU" b="1" dirty="0">
                <a:latin typeface="+mn-lt"/>
              </a:rPr>
              <a:t>закрытый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контакт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93B70-8FB9-D5CE-AA0B-566A232D979E}"/>
              </a:ext>
            </a:extLst>
          </p:cNvPr>
          <p:cNvSpPr txBox="1"/>
          <p:nvPr/>
        </p:nvSpPr>
        <p:spPr>
          <a:xfrm>
            <a:off x="6411330" y="4018721"/>
            <a:ext cx="23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indent="0">
              <a:buFont typeface="Corbel" pitchFamily="34" charset="0"/>
              <a:buNone/>
            </a:pPr>
            <a:r>
              <a:rPr lang="ru-RU" sz="1400" b="1" dirty="0">
                <a:latin typeface="+mn-lt"/>
              </a:rPr>
              <a:t>переключающийся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370278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6461" y="41416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Реле и контакторы</a:t>
            </a:r>
            <a:endParaRPr dirty="0">
              <a:latin typeface="+mj-lt"/>
            </a:endParaRP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61E3AE3-4382-7337-2F95-B50B59D96F4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7640A4-9D59-777E-7B2B-BC199FE6D3A0}"/>
              </a:ext>
            </a:extLst>
          </p:cNvPr>
          <p:cNvSpPr txBox="1"/>
          <p:nvPr/>
        </p:nvSpPr>
        <p:spPr>
          <a:xfrm>
            <a:off x="536860" y="1160191"/>
            <a:ext cx="32731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Реле используются в системах управления для: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размножения сигналов,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задержки и преобразования сигналов,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совмещения данных,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разделения управляющих и основных цепей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BD9F30-9DB3-63AA-163F-D750CE761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326" y="2278349"/>
            <a:ext cx="2121218" cy="2383391"/>
          </a:xfrm>
          <a:prstGeom prst="rect">
            <a:avLst/>
          </a:prstGeom>
        </p:spPr>
      </p:pic>
      <p:pic>
        <p:nvPicPr>
          <p:cNvPr id="5" name="Picture 2" descr="Relay - Access. Control comp. - Control/Networking - MPS® The Modular  Production System - Learning Systems - Festo Didactic">
            <a:extLst>
              <a:ext uri="{FF2B5EF4-FFF2-40B4-BE49-F238E27FC236}">
                <a16:creationId xmlns:a16="http://schemas.microsoft.com/office/drawing/2014/main" id="{9B88D735-56DB-4052-7AD7-B6D4B72CF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123" y="340304"/>
            <a:ext cx="1797202" cy="187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mazon.com: Tolako 5v Relay Module for Arduino ARM PIC AVR MCU 5V Indicator  Light LED 1 Channel Relay Module Works with Official Arduino Boards:  Computers &amp; Accessories">
            <a:extLst>
              <a:ext uri="{FF2B5EF4-FFF2-40B4-BE49-F238E27FC236}">
                <a16:creationId xmlns:a16="http://schemas.microsoft.com/office/drawing/2014/main" id="{A79500AE-A24A-5F17-18AB-04BD34A78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681" y="477984"/>
            <a:ext cx="1983407" cy="1736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094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595F4C-6676-F521-2C08-C6B7C7F64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396" y="592914"/>
            <a:ext cx="3945052" cy="4346478"/>
          </a:xfrm>
          <a:prstGeom prst="rect">
            <a:avLst/>
          </a:prstGeom>
        </p:spPr>
      </p:pic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6461" y="41416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Реле и контакторы</a:t>
            </a:r>
            <a:endParaRPr dirty="0">
              <a:latin typeface="+mj-lt"/>
            </a:endParaRP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61E3AE3-4382-7337-2F95-B50B59D96F4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7640A4-9D59-777E-7B2B-BC199FE6D3A0}"/>
              </a:ext>
            </a:extLst>
          </p:cNvPr>
          <p:cNvSpPr txBox="1"/>
          <p:nvPr/>
        </p:nvSpPr>
        <p:spPr>
          <a:xfrm>
            <a:off x="401305" y="896183"/>
            <a:ext cx="56157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+mn-lt"/>
              </a:rPr>
              <a:t>Реле – это электромагнитный переключатель, в котором управляющий контур отделяется от управляемого.</a:t>
            </a:r>
          </a:p>
          <a:p>
            <a:r>
              <a:rPr lang="ru-RU" sz="1800" dirty="0">
                <a:latin typeface="+mn-lt"/>
              </a:rPr>
              <a:t> </a:t>
            </a:r>
          </a:p>
          <a:p>
            <a:r>
              <a:rPr lang="ru-RU" sz="1800" dirty="0">
                <a:latin typeface="+mn-lt"/>
              </a:rPr>
              <a:t>Реле состоит из катушки (3) с металлическим сердечником (1), якоря (4), служащего в качестве исполнительного элемента, возвратной пружины (2) и переключающих контактов (6). </a:t>
            </a:r>
          </a:p>
          <a:p>
            <a:endParaRPr lang="ru-RU" sz="1800" dirty="0">
              <a:latin typeface="+mn-lt"/>
            </a:endParaRPr>
          </a:p>
          <a:p>
            <a:r>
              <a:rPr lang="ru-RU" sz="1800" dirty="0">
                <a:latin typeface="+mn-lt"/>
              </a:rPr>
              <a:t>Подается напряжение на катушку – появляется э/м поле. Якорь притягивается к сердечнику и замыкает/размыкает контакты. Если ток с катушки исчезает, якорь возвращается в исходное положение (пружина)</a:t>
            </a:r>
          </a:p>
        </p:txBody>
      </p:sp>
    </p:spTree>
    <p:extLst>
      <p:ext uri="{BB962C8B-B14F-4D97-AF65-F5344CB8AC3E}">
        <p14:creationId xmlns:p14="http://schemas.microsoft.com/office/powerpoint/2010/main" val="314343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Разные виды реле</a:t>
            </a:r>
            <a:endParaRPr sz="28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C44080-89AD-4704-542F-4CDDB60E4E16}"/>
              </a:ext>
            </a:extLst>
          </p:cNvPr>
          <p:cNvSpPr txBox="1"/>
          <p:nvPr/>
        </p:nvSpPr>
        <p:spPr>
          <a:xfrm>
            <a:off x="246728" y="2477587"/>
            <a:ext cx="311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По принципу работы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D9F364-FA78-3BC1-46DD-98F32E90230D}"/>
              </a:ext>
            </a:extLst>
          </p:cNvPr>
          <p:cNvSpPr txBox="1"/>
          <p:nvPr/>
        </p:nvSpPr>
        <p:spPr>
          <a:xfrm>
            <a:off x="6206702" y="837216"/>
            <a:ext cx="307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>
                    <a:lumMod val="25000"/>
                  </a:schemeClr>
                </a:solidFill>
                <a:latin typeface="+mj-lt"/>
              </a:rPr>
              <a:t>По типу поступающего воздействия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F22F03-EAA8-1D12-E910-18E13F221C64}"/>
              </a:ext>
            </a:extLst>
          </p:cNvPr>
          <p:cNvSpPr txBox="1"/>
          <p:nvPr/>
        </p:nvSpPr>
        <p:spPr>
          <a:xfrm>
            <a:off x="350677" y="3477419"/>
            <a:ext cx="2611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Электромагнитные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Термические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Индукционные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011B1D-C090-6E89-CC64-04C43B094434}"/>
              </a:ext>
            </a:extLst>
          </p:cNvPr>
          <p:cNvSpPr txBox="1"/>
          <p:nvPr/>
        </p:nvSpPr>
        <p:spPr>
          <a:xfrm>
            <a:off x="5937807" y="2106992"/>
            <a:ext cx="25699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тока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напряжения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частоты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мощности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давления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акустические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Газовые реле</a:t>
            </a:r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22EAFD96-38C2-121A-B04A-E5B2B59CCC47}"/>
              </a:ext>
            </a:extLst>
          </p:cNvPr>
          <p:cNvSpPr/>
          <p:nvPr/>
        </p:nvSpPr>
        <p:spPr>
          <a:xfrm>
            <a:off x="2122427" y="2919549"/>
            <a:ext cx="165392" cy="594360"/>
          </a:xfrm>
          <a:custGeom>
            <a:avLst/>
            <a:gdLst>
              <a:gd name="connsiteX0" fmla="*/ 0 w 302552"/>
              <a:gd name="connsiteY0" fmla="*/ 0 h 594360"/>
              <a:gd name="connsiteX1" fmla="*/ 281940 w 302552"/>
              <a:gd name="connsiteY1" fmla="*/ 213360 h 594360"/>
              <a:gd name="connsiteX2" fmla="*/ 259080 w 302552"/>
              <a:gd name="connsiteY2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552" h="594360">
                <a:moveTo>
                  <a:pt x="0" y="0"/>
                </a:moveTo>
                <a:cubicBezTo>
                  <a:pt x="119380" y="57150"/>
                  <a:pt x="238760" y="114300"/>
                  <a:pt x="281940" y="213360"/>
                </a:cubicBezTo>
                <a:cubicBezTo>
                  <a:pt x="325120" y="312420"/>
                  <a:pt x="292100" y="453390"/>
                  <a:pt x="259080" y="594360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9134F59D-D187-6135-34D1-2797889416BF}"/>
              </a:ext>
            </a:extLst>
          </p:cNvPr>
          <p:cNvSpPr/>
          <p:nvPr/>
        </p:nvSpPr>
        <p:spPr>
          <a:xfrm>
            <a:off x="7028493" y="1511022"/>
            <a:ext cx="138661" cy="541020"/>
          </a:xfrm>
          <a:custGeom>
            <a:avLst/>
            <a:gdLst>
              <a:gd name="connsiteX0" fmla="*/ 77701 w 138661"/>
              <a:gd name="connsiteY0" fmla="*/ 0 h 541020"/>
              <a:gd name="connsiteX1" fmla="*/ 1501 w 138661"/>
              <a:gd name="connsiteY1" fmla="*/ 289560 h 541020"/>
              <a:gd name="connsiteX2" fmla="*/ 138661 w 138661"/>
              <a:gd name="connsiteY2" fmla="*/ 54102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661" h="541020">
                <a:moveTo>
                  <a:pt x="77701" y="0"/>
                </a:moveTo>
                <a:cubicBezTo>
                  <a:pt x="34521" y="99695"/>
                  <a:pt x="-8659" y="199390"/>
                  <a:pt x="1501" y="289560"/>
                </a:cubicBezTo>
                <a:cubicBezTo>
                  <a:pt x="11661" y="379730"/>
                  <a:pt x="75161" y="460375"/>
                  <a:pt x="138661" y="541020"/>
                </a:cubicBezTo>
              </a:path>
            </a:pathLst>
          </a:custGeom>
          <a:noFill/>
          <a:ln w="28575">
            <a:solidFill>
              <a:schemeClr val="bg1">
                <a:lumMod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5391D-0F54-FC8C-7DBA-55EDB639C459}"/>
              </a:ext>
            </a:extLst>
          </p:cNvPr>
          <p:cNvSpPr txBox="1"/>
          <p:nvPr/>
        </p:nvSpPr>
        <p:spPr>
          <a:xfrm>
            <a:off x="2984209" y="1623619"/>
            <a:ext cx="2009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B050"/>
                </a:solidFill>
                <a:latin typeface="+mj-lt"/>
              </a:rPr>
              <a:t>По назначению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78631-7B41-3639-C686-FF2DD5AD462E}"/>
              </a:ext>
            </a:extLst>
          </p:cNvPr>
          <p:cNvSpPr txBox="1"/>
          <p:nvPr/>
        </p:nvSpPr>
        <p:spPr>
          <a:xfrm>
            <a:off x="2995117" y="2590579"/>
            <a:ext cx="26084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управления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защиты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Реле сигнализации</a:t>
            </a: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B567A0D2-440F-D9CC-CC7F-5806A84481A2}"/>
              </a:ext>
            </a:extLst>
          </p:cNvPr>
          <p:cNvSpPr/>
          <p:nvPr/>
        </p:nvSpPr>
        <p:spPr>
          <a:xfrm flipH="1">
            <a:off x="3902529" y="2065581"/>
            <a:ext cx="86561" cy="524998"/>
          </a:xfrm>
          <a:custGeom>
            <a:avLst/>
            <a:gdLst>
              <a:gd name="connsiteX0" fmla="*/ 0 w 302552"/>
              <a:gd name="connsiteY0" fmla="*/ 0 h 594360"/>
              <a:gd name="connsiteX1" fmla="*/ 281940 w 302552"/>
              <a:gd name="connsiteY1" fmla="*/ 213360 h 594360"/>
              <a:gd name="connsiteX2" fmla="*/ 259080 w 302552"/>
              <a:gd name="connsiteY2" fmla="*/ 59436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552" h="594360">
                <a:moveTo>
                  <a:pt x="0" y="0"/>
                </a:moveTo>
                <a:cubicBezTo>
                  <a:pt x="119380" y="57150"/>
                  <a:pt x="238760" y="114300"/>
                  <a:pt x="281940" y="213360"/>
                </a:cubicBezTo>
                <a:cubicBezTo>
                  <a:pt x="325120" y="312420"/>
                  <a:pt x="292100" y="453390"/>
                  <a:pt x="259080" y="59436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Какие бывают датчики и зачем они нужны</a:t>
            </a:r>
            <a:endParaRPr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81B78-E74E-3D6E-AA51-74D3449C9C09}"/>
              </a:ext>
            </a:extLst>
          </p:cNvPr>
          <p:cNvSpPr txBox="1"/>
          <p:nvPr/>
        </p:nvSpPr>
        <p:spPr>
          <a:xfrm>
            <a:off x="536859" y="1195694"/>
            <a:ext cx="85404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Датчики </a:t>
            </a:r>
            <a:r>
              <a:rPr lang="ru-RU" sz="1800" b="1" dirty="0">
                <a:latin typeface="+mn-lt"/>
              </a:rPr>
              <a:t>предназначены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>
                <a:latin typeface="+mn-lt"/>
              </a:rPr>
              <a:t>для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>
                <a:latin typeface="+mn-lt"/>
              </a:rPr>
              <a:t>сбора</a:t>
            </a:r>
            <a:r>
              <a:rPr lang="ru-RU" sz="1800" dirty="0">
                <a:latin typeface="+mn-lt"/>
              </a:rPr>
              <a:t> информации </a:t>
            </a:r>
            <a:r>
              <a:rPr lang="ru-RU" sz="1800" b="1" dirty="0">
                <a:latin typeface="+mn-lt"/>
              </a:rPr>
              <a:t>и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>
                <a:latin typeface="+mn-lt"/>
              </a:rPr>
              <a:t>передачи</a:t>
            </a:r>
            <a:r>
              <a:rPr lang="ru-RU" sz="1800" dirty="0">
                <a:latin typeface="+mn-lt"/>
              </a:rPr>
              <a:t> ее в формате, поддающемся оценке, в системе обработки сигналов. Они используются для решения разнообразных технологических задач.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Именно поэтому датчики классифицируются по: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принципу работы (оптические, индуктивные, механические, и т.д.),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измеряемому параметру (перемещение, давление, расстояние, температура, значение уровня </a:t>
            </a:r>
            <a:r>
              <a:rPr lang="ru-RU" sz="1800" dirty="0" err="1">
                <a:latin typeface="+mn-lt"/>
              </a:rPr>
              <a:t>ph</a:t>
            </a:r>
            <a:r>
              <a:rPr lang="ru-RU" sz="1800" dirty="0">
                <a:latin typeface="+mn-lt"/>
              </a:rPr>
              <a:t>, интенсивность освещения, присутствие объектов и т.д.),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выходному сигналу (аналоговый, цифровой, двоичный и т.д.).</a:t>
            </a:r>
          </a:p>
        </p:txBody>
      </p:sp>
    </p:spTree>
    <p:extLst>
      <p:ext uri="{BB962C8B-B14F-4D97-AF65-F5344CB8AC3E}">
        <p14:creationId xmlns:p14="http://schemas.microsoft.com/office/powerpoint/2010/main" val="254039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763B9BD-DE82-116F-65EA-1FAF471645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78" y="1789762"/>
            <a:ext cx="2340932" cy="19507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A2B4F9-9DB8-04F6-7204-50F795986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00" y="3320443"/>
            <a:ext cx="2069112" cy="15831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CF3429-CB5D-5B7D-E717-81E41BCE6C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312" y="2409231"/>
            <a:ext cx="2278393" cy="227839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6CFDBA-AD90-FE68-785D-E1003AAF85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469" y="3026499"/>
            <a:ext cx="2327608" cy="17806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D7095C-434F-EFFC-929B-A37711E180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030" y="165414"/>
            <a:ext cx="1638460" cy="20480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733C24-084D-3DCC-7660-E54F53FA8D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373" y="1955226"/>
            <a:ext cx="1788638" cy="12330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A15A73A-28F5-6AFD-06EE-784390EAEC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271" y="239872"/>
            <a:ext cx="2860948" cy="17778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901CEC-D4B5-F301-98DF-85DA447CB1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48" y="239872"/>
            <a:ext cx="1963552" cy="18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0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76461" y="41416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536860" y="962865"/>
            <a:ext cx="845474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В контактных датчиках происходит непосредственное замыкание электрических контактов</a:t>
            </a:r>
          </a:p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В бесконтактных датчиках нет внешнего механического пускового воздействия. Это обеспечивает их долговечность и высокую надежность. </a:t>
            </a:r>
          </a:p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Датчики с механическим переключающим контактом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 герконы</a:t>
            </a:r>
          </a:p>
          <a:p>
            <a:pPr>
              <a:spcBef>
                <a:spcPts val="1200"/>
              </a:spcBef>
            </a:pPr>
            <a:r>
              <a:rPr lang="ru-RU" sz="1800" dirty="0">
                <a:latin typeface="+mn-lt"/>
              </a:rPr>
              <a:t>Датчики с электронным переключателем выхода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 индуктивные бесконтактные датчики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 емкостные бесконтактные датчики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 оптические бесконтактные датчики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61E3AE3-4382-7337-2F95-B50B59D96F4A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4881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Магнитные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502388" y="967662"/>
            <a:ext cx="464161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Герконы приводятся в действие магнитом. Они состоят из двух контактных пластинок в маленькой стеклянной трубке, заполненной инертным газом. Действие магнита вызывает замыкание пластинок так, чтобы мог протекать ток.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Герконы долговечны и обладают высокой скоростью переключения (приблизительно 0,2 мс). Они просты в обслуживании, но не могут использоваться в местах с сильными магнитными полями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582079-47BA-E1F8-95E5-E19C30D69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52524"/>
            <a:ext cx="3632584" cy="33765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30C883-E0F2-95FB-577F-A26DF6DF8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376" y="1152524"/>
            <a:ext cx="1081837" cy="1071726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950610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Электронные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1017455" y="1579984"/>
            <a:ext cx="73194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Электронные датчики бывают индуктивными, оптическими и емкостными. Как правило, у них есть три электрических выхода для соединения с: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источником напряжения (</a:t>
            </a:r>
            <a:r>
              <a:rPr lang="ru-RU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коричневый</a:t>
            </a:r>
            <a:r>
              <a:rPr lang="ru-RU" sz="1800" dirty="0">
                <a:latin typeface="+mn-lt"/>
              </a:rPr>
              <a:t>),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заземлением (</a:t>
            </a:r>
            <a:r>
              <a:rPr lang="ru-RU" sz="1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синий</a:t>
            </a:r>
            <a:r>
              <a:rPr lang="ru-RU" sz="1800" dirty="0">
                <a:latin typeface="+mn-lt"/>
              </a:rPr>
              <a:t>),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выходным сигналом (</a:t>
            </a:r>
            <a:r>
              <a:rPr lang="ru-RU" sz="1800" b="1" dirty="0">
                <a:latin typeface="+mn-lt"/>
              </a:rPr>
              <a:t>черный</a:t>
            </a:r>
            <a:r>
              <a:rPr lang="ru-RU" sz="1800" dirty="0">
                <a:latin typeface="+mn-lt"/>
              </a:rPr>
              <a:t> или </a:t>
            </a:r>
            <a:r>
              <a:rPr lang="ru-RU" sz="1800" b="1" dirty="0">
                <a:solidFill>
                  <a:schemeClr val="accent6">
                    <a:lumMod val="85000"/>
                  </a:schemeClr>
                </a:solidFill>
                <a:latin typeface="+mn-lt"/>
              </a:rPr>
              <a:t>белый</a:t>
            </a:r>
            <a:r>
              <a:rPr lang="ru-RU" sz="1800" dirty="0">
                <a:latin typeface="+mn-lt"/>
              </a:rPr>
              <a:t>).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68232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Индуктивные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502388" y="871391"/>
            <a:ext cx="464161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Индуктивные бесконтактные датчики состоят из резонансного контура (1), триггера (2) и усилителя (3). При подаче напряжения на контакты, резонансный контур вырабатывает магнитное переменное поле, которое излучается из передней части датчика.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Помещение электрического проводника в это переменное поле «ослабляет» резонансный контур. Далее по мере протекания тока электронный блок, состоящий из триггера и усилителя, оценивает характер изменения резонансного контура и выдает сигнал.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314B64-EEBE-0A39-05C8-5F8ADD0B6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10" y="1141454"/>
            <a:ext cx="2737096" cy="179204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E5ACA2-5AF6-0012-384D-62C6FEC32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54" y="2933494"/>
            <a:ext cx="3695131" cy="14133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32FA61-700E-8AE7-EB8D-0B3E67CFA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306" y="1422860"/>
            <a:ext cx="1154075" cy="1055436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872764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Индуктивные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340463" y="1876604"/>
            <a:ext cx="4641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Индуктивные бесконтактные датчики могут быть использованы для определения положения любых материалов с хорошей электрической проводимостью, например графита или металла. 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" name="Picture 4" descr="http://ok-t.ru/studopediaru/baza2/1958918986469.files/image105.jpg">
            <a:extLst>
              <a:ext uri="{FF2B5EF4-FFF2-40B4-BE49-F238E27FC236}">
                <a16:creationId xmlns:a16="http://schemas.microsoft.com/office/drawing/2014/main" id="{BA574F1F-F4B1-3EFC-F9E1-CC482C9DD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22" y="1933754"/>
            <a:ext cx="3177254" cy="199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32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Ёмкостные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400589" y="863720"/>
            <a:ext cx="46416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Емкостные бесконтактные датчики состоят из резистора (R) и конденсатора (C), которые вместе образуют резонансную RC-цепь, а также электронный контур для оценки колебаний.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Между активным и заземляющим электродами конденсатора образуется электростатическое поле. На передней стороне датчика формируется паразитное поле. Когда объект попадет в него, емкостное сопротивление конденсатора меняется, резонансный контур ослабляется и остальная часть устройства выдает сигнал.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B63DCC-4716-8954-0B94-579991822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54" y="3292223"/>
            <a:ext cx="3580335" cy="132754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A26557-F684-E32B-0D2C-4E406D285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04" y="1851277"/>
            <a:ext cx="2350371" cy="11751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E6306A-CDBA-F681-CDC4-6A72F8F64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774" y="1447650"/>
            <a:ext cx="1630747" cy="1578813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4187799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Ёмкостные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352964" y="1762379"/>
            <a:ext cx="4641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Емкостные датчики реагируют не только на материалы с высокой электрической проводимостью  (металлы), но и на все диэлектрики с высокой диэлектрической постоянной (пластик, стекло, керамика,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жидкости и дерево).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" name="Picture 2" descr="Картинки по запросу емкостные датчики применение">
            <a:extLst>
              <a:ext uri="{FF2B5EF4-FFF2-40B4-BE49-F238E27FC236}">
                <a16:creationId xmlns:a16="http://schemas.microsoft.com/office/drawing/2014/main" id="{F0106E17-ECCA-B48E-AD15-31476750C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85" y="1582870"/>
            <a:ext cx="3581465" cy="239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090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820254" y="41896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Оптические датчики</a:t>
            </a:r>
            <a:endParaRPr dirty="0"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C8B583-7E1A-CFD9-6C68-30D982C55714}"/>
              </a:ext>
            </a:extLst>
          </p:cNvPr>
          <p:cNvSpPr txBox="1"/>
          <p:nvPr/>
        </p:nvSpPr>
        <p:spPr>
          <a:xfrm>
            <a:off x="4302363" y="1774383"/>
            <a:ext cx="4641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>
                <a:latin typeface="+mn-lt"/>
              </a:rPr>
              <a:t>В оптических датчиках всегда есть передатчик и приемник. Они используют оптические (красный или инфракрасный свет) и электронные элементы и модули для определения положения объекта, находящегося между передатчиком и приемником. </a:t>
            </a:r>
          </a:p>
        </p:txBody>
      </p:sp>
      <p:cxnSp>
        <p:nvCxnSpPr>
          <p:cNvPr id="2" name="Google Shape;192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CD0DDCE-E308-587B-7CD8-EFC3AADE1F42}"/>
              </a:ext>
            </a:extLst>
          </p:cNvPr>
          <p:cNvCxnSpPr/>
          <p:nvPr/>
        </p:nvCxnSpPr>
        <p:spPr>
          <a:xfrm>
            <a:off x="295210" y="741021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A14AED-5218-8A9D-E220-091EA119D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32" y="967662"/>
            <a:ext cx="1961046" cy="2260650"/>
          </a:xfrm>
          <a:prstGeom prst="rect">
            <a:avLst/>
          </a:prstGeom>
        </p:spPr>
      </p:pic>
      <p:pic>
        <p:nvPicPr>
          <p:cNvPr id="4" name="Picture 2" descr="Картинки по запросу оптические датчики">
            <a:extLst>
              <a:ext uri="{FF2B5EF4-FFF2-40B4-BE49-F238E27FC236}">
                <a16:creationId xmlns:a16="http://schemas.microsoft.com/office/drawing/2014/main" id="{734935E4-B64C-BD6E-C29A-1E7E5ED43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655" y="3380481"/>
            <a:ext cx="2166492" cy="159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2B88A2-BE7E-E7A8-8847-B6798A0E3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86" y="1199333"/>
            <a:ext cx="1694681" cy="1590713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166105827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Другая 3">
      <a:majorFont>
        <a:latin typeface="Manrope Semi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682</Words>
  <Application>Microsoft Office PowerPoint</Application>
  <PresentationFormat>Экран (16:9)</PresentationFormat>
  <Paragraphs>77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Manrope</vt:lpstr>
      <vt:lpstr>Arial</vt:lpstr>
      <vt:lpstr>Alexandria Medium</vt:lpstr>
      <vt:lpstr>Corbel</vt:lpstr>
      <vt:lpstr>Albert Sans</vt:lpstr>
      <vt:lpstr>Manrope SemiBold</vt:lpstr>
      <vt:lpstr>Lead Funnel by Slidesgo</vt:lpstr>
      <vt:lpstr>Электрические элементы. Датчики</vt:lpstr>
      <vt:lpstr>Электрические компоненты</vt:lpstr>
      <vt:lpstr>Выключатели и кнопки</vt:lpstr>
      <vt:lpstr>Выключатели и кнопки</vt:lpstr>
      <vt:lpstr>Реле и контакторы</vt:lpstr>
      <vt:lpstr>Реле и контакторы</vt:lpstr>
      <vt:lpstr>Разные виды реле</vt:lpstr>
      <vt:lpstr>Какие бывают датчики и зачем они нужны</vt:lpstr>
      <vt:lpstr>Презентация PowerPoint</vt:lpstr>
      <vt:lpstr>Датчики</vt:lpstr>
      <vt:lpstr>Магнитные датчики</vt:lpstr>
      <vt:lpstr>Электронные датчики</vt:lpstr>
      <vt:lpstr>Индуктивные датчики</vt:lpstr>
      <vt:lpstr>Индуктивные датчики</vt:lpstr>
      <vt:lpstr>Ёмкостные датчики</vt:lpstr>
      <vt:lpstr>Ёмкостные датчики</vt:lpstr>
      <vt:lpstr>Оптические датчики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Katerina</dc:creator>
  <cp:lastModifiedBy>ARKJ</cp:lastModifiedBy>
  <cp:revision>24</cp:revision>
  <dcterms:modified xsi:type="dcterms:W3CDTF">2025-05-11T16:59:32Z</dcterms:modified>
</cp:coreProperties>
</file>