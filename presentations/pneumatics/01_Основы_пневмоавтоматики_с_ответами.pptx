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80" r:id="rId1"/>
  </p:sldMasterIdLst>
  <p:notesMasterIdLst>
    <p:notesMasterId r:id="rId56"/>
  </p:notesMasterIdLst>
  <p:sldIdLst>
    <p:sldId id="256" r:id="rId2"/>
    <p:sldId id="339" r:id="rId3"/>
    <p:sldId id="293" r:id="rId4"/>
    <p:sldId id="294" r:id="rId5"/>
    <p:sldId id="295" r:id="rId6"/>
    <p:sldId id="296" r:id="rId7"/>
    <p:sldId id="297" r:id="rId8"/>
    <p:sldId id="340" r:id="rId9"/>
    <p:sldId id="341" r:id="rId10"/>
    <p:sldId id="342" r:id="rId11"/>
    <p:sldId id="25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298" r:id="rId20"/>
    <p:sldId id="306" r:id="rId21"/>
    <p:sldId id="307" r:id="rId22"/>
    <p:sldId id="343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259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</p:sldIdLst>
  <p:sldSz cx="9144000" cy="5143500" type="screen16x9"/>
  <p:notesSz cx="6858000" cy="9144000"/>
  <p:embeddedFontLst>
    <p:embeddedFont>
      <p:font typeface="Albert Sans" panose="020B0604020202020204" charset="0"/>
      <p:regular r:id="rId57"/>
      <p:bold r:id="rId58"/>
      <p:italic r:id="rId59"/>
      <p:boldItalic r:id="rId60"/>
    </p:embeddedFont>
    <p:embeddedFont>
      <p:font typeface="Alexandria Medium" panose="020B0604020202020204" charset="-78"/>
      <p:regular r:id="rId61"/>
      <p:bold r:id="rId62"/>
    </p:embeddedFont>
    <p:embeddedFont>
      <p:font typeface="Cambria Math" panose="02040503050406030204" pitchFamily="18" charset="0"/>
      <p:regular r:id="rId63"/>
    </p:embeddedFont>
    <p:embeddedFont>
      <p:font typeface="Manrope" pitchFamily="2" charset="0"/>
      <p:regular r:id="rId64"/>
      <p:bold r:id="rId65"/>
    </p:embeddedFont>
    <p:embeddedFont>
      <p:font typeface="Manrope SemiBold" pitchFamily="2" charset="0"/>
      <p:bold r:id="rId66"/>
    </p:embeddedFont>
    <p:embeddedFont>
      <p:font typeface="Montserrat" panose="00000500000000000000" pitchFamily="50" charset="-52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3ACAAF-F859-4650-9346-19197B8DDD12}">
  <a:tblStyle styleId="{7C3ACAAF-F859-4650-9346-19197B8DDD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D04D7B-301D-44AA-B008-C347228EFCB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0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10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0668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888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861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089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454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5958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1670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885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128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5840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4067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073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2598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7547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514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950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9468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835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271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1235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17310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703cb3a7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703cb3a7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7882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7024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69036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03541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67644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26081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30194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91925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95158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18675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15621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02878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1613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5415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7671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9538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1247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2852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00658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0364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08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648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 rot="10800000" flipH="1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3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028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  <p:sldLayoutId id="2147483661" r:id="rId5"/>
    <p:sldLayoutId id="2147483676" r:id="rId6"/>
    <p:sldLayoutId id="2147483677" r:id="rId7"/>
    <p:sldLayoutId id="214748368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watch?v=qLsU43It7fY" TargetMode="Externa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watch?v=GzB3utv8hfQ" TargetMode="Externa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watch?v=zd-oOrdHGV0" TargetMode="External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watch?v=i8p0QP3dh0A" TargetMode="External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watch?v=y3JE41gpeZ4" TargetMode="External"/><Relationship Id="rId4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microsoft.com/office/2007/relationships/hdphoto" Target="../media/hdphoto6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youtube.com/watch?v=cNTpfWVuqlI" TargetMode="External"/><Relationship Id="rId5" Type="http://schemas.openxmlformats.org/officeDocument/2006/relationships/image" Target="../media/image31.png"/><Relationship Id="rId4" Type="http://schemas.microsoft.com/office/2007/relationships/hdphoto" Target="../media/hdphoto7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RRbrgX9kJQk" TargetMode="External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microsoft.com/office/2007/relationships/hdphoto" Target="../media/hdphoto9.wdp"/><Relationship Id="rId5" Type="http://schemas.openxmlformats.org/officeDocument/2006/relationships/image" Target="../media/image33.png"/><Relationship Id="rId4" Type="http://schemas.microsoft.com/office/2007/relationships/hdphoto" Target="../media/hdphoto8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hyperlink" Target="https://www.youtube.com/watch?v=1c4z92ifZuY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1.wdp"/><Relationship Id="rId5" Type="http://schemas.openxmlformats.org/officeDocument/2006/relationships/image" Target="../media/image39.png"/><Relationship Id="rId4" Type="http://schemas.microsoft.com/office/2007/relationships/hdphoto" Target="../media/hdphoto10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microsoft.com/office/2007/relationships/hdphoto" Target="../media/hdphoto13.wd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microsoft.com/office/2007/relationships/hdphoto" Target="../media/hdphoto12.wdp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hyperlink" Target="https://www.youtube.com/watch?v=hy7U40qJSgw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5.wdp"/><Relationship Id="rId5" Type="http://schemas.openxmlformats.org/officeDocument/2006/relationships/image" Target="../media/image45.png"/><Relationship Id="rId4" Type="http://schemas.microsoft.com/office/2007/relationships/hdphoto" Target="../media/hdphoto14.wdp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1210047" y="3179263"/>
            <a:ext cx="6336322" cy="1391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>
                <a:latin typeface="Manrope SemiBold" pitchFamily="2" charset="0"/>
              </a:rPr>
              <a:t>Основы пневмоавтоматики</a:t>
            </a:r>
            <a:endParaRPr sz="4400" dirty="0">
              <a:latin typeface="Manrope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0593E2-B334-5BD7-DB5D-362ECBDA8826}"/>
              </a:ext>
            </a:extLst>
          </p:cNvPr>
          <p:cNvSpPr txBox="1"/>
          <p:nvPr/>
        </p:nvSpPr>
        <p:spPr>
          <a:xfrm>
            <a:off x="329819" y="3138167"/>
            <a:ext cx="12678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dirty="0">
                <a:latin typeface="+mj-lt"/>
              </a:rPr>
              <a:t>1 </a:t>
            </a:r>
            <a:endParaRPr lang="ru-RU" sz="9600" dirty="0"/>
          </a:p>
        </p:txBody>
      </p:sp>
      <p:sp>
        <p:nvSpPr>
          <p:cNvPr id="3" name="Google Shape;191;p35">
            <a:extLst>
              <a:ext uri="{FF2B5EF4-FFF2-40B4-BE49-F238E27FC236}">
                <a16:creationId xmlns:a16="http://schemas.microsoft.com/office/drawing/2014/main" id="{302CE16F-4426-F6CC-25A8-3D055E447A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Manrope" pitchFamily="2" charset="0"/>
              </a:rPr>
              <a:t>Практика 2025</a:t>
            </a:r>
            <a:endParaRPr b="1" dirty="0">
              <a:latin typeface="Manrope" pitchFamily="2" charset="0"/>
            </a:endParaRPr>
          </a:p>
        </p:txBody>
      </p:sp>
      <p:cxnSp>
        <p:nvCxnSpPr>
          <p:cNvPr id="4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F3B2CAD-8FA9-9D10-6786-3A32C6B32245}"/>
              </a:ext>
            </a:extLst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ED880-1402-AAA5-4293-1024DC86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00" y="3825550"/>
            <a:ext cx="7708800" cy="1253700"/>
          </a:xfrm>
        </p:spPr>
        <p:txBody>
          <a:bodyPr/>
          <a:lstStyle/>
          <a:p>
            <a:r>
              <a:rPr lang="ru-RU" sz="4400" dirty="0">
                <a:latin typeface="+mj-lt"/>
              </a:rPr>
              <a:t>Физика в пневмосистемах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037B7B0-2863-31B0-57FC-632B168FA0D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17600" y="2571750"/>
            <a:ext cx="7708800" cy="1253700"/>
          </a:xfrm>
        </p:spPr>
        <p:txBody>
          <a:bodyPr/>
          <a:lstStyle/>
          <a:p>
            <a:r>
              <a:rPr lang="ru-RU" dirty="0">
                <a:latin typeface="+mj-lt"/>
              </a:rPr>
              <a:t>01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C4A6ACB8-CF5F-9E32-7C24-79193D9C8E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75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5472C08-768F-C95B-BD37-E48EF6F3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latin typeface="+mj-lt"/>
              </a:rPr>
              <a:t>Что такое пневматика?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2D4AF-3059-77F4-0A71-071FC4F39260}"/>
              </a:ext>
            </a:extLst>
          </p:cNvPr>
          <p:cNvSpPr txBox="1"/>
          <p:nvPr/>
        </p:nvSpPr>
        <p:spPr>
          <a:xfrm>
            <a:off x="894536" y="1814279"/>
            <a:ext cx="3349356" cy="2308324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dirty="0" err="1">
                <a:latin typeface="+mn-lt"/>
              </a:rPr>
              <a:t>Пнематика</a:t>
            </a:r>
            <a:r>
              <a:rPr lang="ru-RU" sz="1800" dirty="0">
                <a:latin typeface="+mn-lt"/>
              </a:rPr>
              <a:t> – наука, изучающая </a:t>
            </a:r>
            <a:r>
              <a:rPr lang="ru-RU" sz="1800" b="1" dirty="0">
                <a:latin typeface="+mn-lt"/>
              </a:rPr>
              <a:t>равновесие</a:t>
            </a:r>
            <a:r>
              <a:rPr lang="ru-RU" sz="1800" dirty="0">
                <a:latin typeface="+mn-lt"/>
              </a:rPr>
              <a:t> и </a:t>
            </a:r>
            <a:r>
              <a:rPr lang="ru-RU" sz="1800" b="1" dirty="0">
                <a:latin typeface="+mn-lt"/>
              </a:rPr>
              <a:t>движение</a:t>
            </a:r>
            <a:r>
              <a:rPr lang="ru-RU" sz="1800" dirty="0">
                <a:latin typeface="+mn-lt"/>
              </a:rPr>
              <a:t> </a:t>
            </a:r>
            <a:r>
              <a:rPr lang="ru-RU" sz="1800" b="1" dirty="0">
                <a:latin typeface="+mn-lt"/>
              </a:rPr>
              <a:t>газов</a:t>
            </a:r>
            <a:r>
              <a:rPr lang="ru-RU" sz="1800" dirty="0">
                <a:latin typeface="+mn-lt"/>
              </a:rPr>
              <a:t>, а также устройство и принципы работы машин и механизмов использующие разность давления газа для своей работы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CAAA4-BA3E-8F2D-6E4B-2AF314F0BF55}"/>
              </a:ext>
            </a:extLst>
          </p:cNvPr>
          <p:cNvSpPr txBox="1"/>
          <p:nvPr/>
        </p:nvSpPr>
        <p:spPr>
          <a:xfrm>
            <a:off x="4940492" y="2731627"/>
            <a:ext cx="3488508" cy="147732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dirty="0"/>
              <a:t>Пневматика очень близка к</a:t>
            </a:r>
            <a:r>
              <a:rPr lang="ru-RU" sz="1800" b="1" dirty="0"/>
              <a:t> гидравлике</a:t>
            </a:r>
            <a:r>
              <a:rPr lang="ru-RU" sz="1800" dirty="0"/>
              <a:t>, основное отличие в использовании </a:t>
            </a:r>
            <a:r>
              <a:rPr lang="ru-RU" sz="1800" b="1" dirty="0"/>
              <a:t>рабочего тела </a:t>
            </a:r>
            <a:r>
              <a:rPr lang="ru-RU" sz="1800" dirty="0"/>
              <a:t>(в гидравлике - жидкость)</a:t>
            </a:r>
            <a:endParaRPr lang="ru-RU" b="1" dirty="0"/>
          </a:p>
        </p:txBody>
      </p:sp>
      <p:pic>
        <p:nvPicPr>
          <p:cNvPr id="1026" name="Picture 2" descr="Rishika Hydro Pneumatic - Leading Supplier in Mumbai, India">
            <a:extLst>
              <a:ext uri="{FF2B5EF4-FFF2-40B4-BE49-F238E27FC236}">
                <a16:creationId xmlns:a16="http://schemas.microsoft.com/office/drawing/2014/main" id="{4B17D535-BEE5-87E8-2021-B3F6A10A9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79" y="863301"/>
            <a:ext cx="2462493" cy="177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66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5472C08-768F-C95B-BD37-E48EF6F3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latin typeface="+mj-lt"/>
              </a:rPr>
              <a:t>Физические основы. Давление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2D4AF-3059-77F4-0A71-071FC4F39260}"/>
              </a:ext>
            </a:extLst>
          </p:cNvPr>
          <p:cNvSpPr txBox="1"/>
          <p:nvPr/>
        </p:nvSpPr>
        <p:spPr>
          <a:xfrm>
            <a:off x="715100" y="1279793"/>
            <a:ext cx="3909528" cy="6463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Базовыми единицами являются </a:t>
            </a:r>
            <a:r>
              <a:rPr lang="ru-RU" sz="1800" b="1" dirty="0">
                <a:latin typeface="+mn-lt"/>
              </a:rPr>
              <a:t>давление</a:t>
            </a:r>
            <a:r>
              <a:rPr lang="ru-RU" sz="1800" dirty="0">
                <a:latin typeface="+mn-lt"/>
              </a:rPr>
              <a:t> и </a:t>
            </a:r>
            <a:r>
              <a:rPr lang="ru-RU" sz="1800" b="1" dirty="0">
                <a:latin typeface="+mn-lt"/>
              </a:rPr>
              <a:t>расход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6CE72-37DE-AD7B-CE6D-C203FD2B7D5D}"/>
              </a:ext>
            </a:extLst>
          </p:cNvPr>
          <p:cNvSpPr txBox="1"/>
          <p:nvPr/>
        </p:nvSpPr>
        <p:spPr>
          <a:xfrm>
            <a:off x="715100" y="2176078"/>
            <a:ext cx="4350280" cy="14773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b="1" dirty="0">
                <a:latin typeface="+mn-lt"/>
              </a:rPr>
              <a:t>Давление</a:t>
            </a:r>
            <a:r>
              <a:rPr lang="ru-RU" sz="1800" dirty="0">
                <a:latin typeface="+mn-lt"/>
              </a:rPr>
              <a:t> – не зависит от формы объема, занимаемого воздухом. Обозначается буквой </a:t>
            </a:r>
            <a:r>
              <a:rPr lang="ru-RU" sz="1800" b="1" dirty="0">
                <a:latin typeface="+mn-lt"/>
              </a:rPr>
              <a:t>P</a:t>
            </a:r>
            <a:r>
              <a:rPr lang="ru-RU" sz="1800" dirty="0">
                <a:latin typeface="+mn-lt"/>
              </a:rPr>
              <a:t> (</a:t>
            </a:r>
            <a:r>
              <a:rPr lang="ru-RU" sz="1800" dirty="0" err="1">
                <a:latin typeface="+mn-lt"/>
              </a:rPr>
              <a:t>pressure</a:t>
            </a:r>
            <a:r>
              <a:rPr lang="ru-RU" sz="1800" dirty="0">
                <a:latin typeface="+mn-lt"/>
              </a:rPr>
              <a:t>) и измеряется в </a:t>
            </a:r>
            <a:r>
              <a:rPr lang="ru-RU" sz="1800" b="1" dirty="0">
                <a:latin typeface="+mn-lt"/>
              </a:rPr>
              <a:t>Паскалях</a:t>
            </a:r>
            <a:r>
              <a:rPr lang="ru-RU" sz="1800" dirty="0">
                <a:latin typeface="+mn-lt"/>
              </a:rPr>
              <a:t> (Па), также иногда записывают в Барах.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CFD4A-8A1E-72EC-CC39-9F36378ED166}"/>
              </a:ext>
            </a:extLst>
          </p:cNvPr>
          <p:cNvSpPr txBox="1"/>
          <p:nvPr/>
        </p:nvSpPr>
        <p:spPr>
          <a:xfrm>
            <a:off x="715100" y="3903361"/>
            <a:ext cx="45722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accent1"/>
                </a:solidFill>
                <a:latin typeface="+mn-lt"/>
              </a:rPr>
              <a:t>1 бар = 1 атмосфера = 100000 Па = 10^5 Па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5F507ED-55D5-30B4-9793-E59BC3364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345" y="1022009"/>
            <a:ext cx="2887514" cy="294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23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5472C08-768F-C95B-BD37-E48EF6F3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535000"/>
            <a:ext cx="5594260" cy="548700"/>
          </a:xfrm>
        </p:spPr>
        <p:txBody>
          <a:bodyPr/>
          <a:lstStyle/>
          <a:p>
            <a:r>
              <a:rPr lang="ru-RU" sz="2800" dirty="0">
                <a:latin typeface="+mj-lt"/>
              </a:rPr>
              <a:t>Физические основы. Давление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6CE72-37DE-AD7B-CE6D-C203FD2B7D5D}"/>
              </a:ext>
            </a:extLst>
          </p:cNvPr>
          <p:cNvSpPr txBox="1"/>
          <p:nvPr/>
        </p:nvSpPr>
        <p:spPr>
          <a:xfrm>
            <a:off x="732502" y="1508273"/>
            <a:ext cx="4826285" cy="30777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1 Паскаль давления - это сила в 1Н которая действует перпендикулярно к поверхности площадью 1м^2</a:t>
            </a:r>
          </a:p>
          <a:p>
            <a:r>
              <a:rPr lang="ru-RU" sz="1800" dirty="0">
                <a:latin typeface="+mn-lt"/>
              </a:rPr>
              <a:t>Давление бывает 3 типов: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+mn-lt"/>
              </a:rPr>
              <a:t>Атмосферное</a:t>
            </a:r>
            <a:r>
              <a:rPr lang="ru-RU" sz="1800" dirty="0">
                <a:latin typeface="+mn-lt"/>
              </a:rPr>
              <a:t> – это давление на поверхности Земли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+mn-lt"/>
              </a:rPr>
              <a:t>Избыточное</a:t>
            </a:r>
            <a:r>
              <a:rPr lang="ru-RU" sz="1800" dirty="0">
                <a:latin typeface="+mn-lt"/>
              </a:rPr>
              <a:t> – это давление выше атмосферного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+mn-lt"/>
              </a:rPr>
              <a:t>Вакуумметрическое</a:t>
            </a:r>
            <a:r>
              <a:rPr lang="ru-RU" sz="1800" dirty="0">
                <a:latin typeface="+mn-lt"/>
              </a:rPr>
              <a:t> – это давление ниже атмосферного</a:t>
            </a:r>
          </a:p>
          <a:p>
            <a:endParaRPr lang="ru-RU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5F507ED-55D5-30B4-9793-E59BC3364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526" y="293085"/>
            <a:ext cx="2887514" cy="294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F1F11B-30EC-AB1E-F215-748804BECFF0}"/>
              </a:ext>
            </a:extLst>
          </p:cNvPr>
          <p:cNvSpPr txBox="1"/>
          <p:nvPr/>
        </p:nvSpPr>
        <p:spPr>
          <a:xfrm>
            <a:off x="5663101" y="3047156"/>
            <a:ext cx="3521722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Давление = усилие/площадь поперечного сечения.</a:t>
            </a:r>
          </a:p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0AB7382C-C94E-2010-3E1D-61FFC8BDEF4F}"/>
                  </a:ext>
                </a:extLst>
              </p:cNvPr>
              <p:cNvSpPr/>
              <p:nvPr/>
            </p:nvSpPr>
            <p:spPr>
              <a:xfrm>
                <a:off x="6678578" y="3687735"/>
                <a:ext cx="1023549" cy="9207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>
                          <a:latin typeface="+mn-lt"/>
                        </a:rPr>
                        <m:t>P</m:t>
                      </m:r>
                      <m:r>
                        <m:rPr>
                          <m:nor/>
                        </m:rPr>
                        <a:rPr lang="en-US" sz="2800" i="0">
                          <a:latin typeface="+mn-lt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i="0">
                              <a:latin typeface="+mn-lt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800" i="0">
                              <a:latin typeface="+mn-lt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ru-RU" sz="2800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0AB7382C-C94E-2010-3E1D-61FFC8BDE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578" y="3687735"/>
                <a:ext cx="1023549" cy="9207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061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5472C08-768F-C95B-BD37-E48EF6F3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61" y="379311"/>
            <a:ext cx="7713900" cy="548700"/>
          </a:xfrm>
        </p:spPr>
        <p:txBody>
          <a:bodyPr/>
          <a:lstStyle/>
          <a:p>
            <a:r>
              <a:rPr lang="ru-RU" sz="2800" dirty="0">
                <a:latin typeface="+mj-lt"/>
              </a:rPr>
              <a:t>Физические основы. Расход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6CE72-37DE-AD7B-CE6D-C203FD2B7D5D}"/>
              </a:ext>
            </a:extLst>
          </p:cNvPr>
          <p:cNvSpPr txBox="1"/>
          <p:nvPr/>
        </p:nvSpPr>
        <p:spPr>
          <a:xfrm>
            <a:off x="524760" y="1078230"/>
            <a:ext cx="6516119" cy="16927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b="1" dirty="0">
                <a:latin typeface="+mn-lt"/>
              </a:rPr>
              <a:t>Расход</a:t>
            </a:r>
            <a:r>
              <a:rPr lang="ru-RU" sz="1800" dirty="0">
                <a:latin typeface="+mn-lt"/>
              </a:rPr>
              <a:t> – величина, определяемая отношением </a:t>
            </a:r>
            <a:r>
              <a:rPr lang="ru-RU" sz="1800" b="1" dirty="0">
                <a:latin typeface="+mn-lt"/>
              </a:rPr>
              <a:t>массы</a:t>
            </a:r>
            <a:r>
              <a:rPr lang="ru-RU" sz="1800" dirty="0">
                <a:latin typeface="+mn-lt"/>
              </a:rPr>
              <a:t> (массовый расход) или </a:t>
            </a:r>
            <a:r>
              <a:rPr lang="ru-RU" sz="1800" b="1" dirty="0">
                <a:latin typeface="+mn-lt"/>
              </a:rPr>
              <a:t>объема</a:t>
            </a:r>
            <a:r>
              <a:rPr lang="ru-RU" sz="1800" dirty="0">
                <a:latin typeface="+mn-lt"/>
              </a:rPr>
              <a:t> (объемный расход, перемещаемого через </a:t>
            </a:r>
            <a:r>
              <a:rPr lang="ru-RU" sz="1800" i="1" dirty="0">
                <a:latin typeface="+mn-lt"/>
              </a:rPr>
              <a:t>сечение трубопровода </a:t>
            </a:r>
            <a:r>
              <a:rPr lang="ru-RU" sz="1800" dirty="0">
                <a:latin typeface="+mn-lt"/>
              </a:rPr>
              <a:t>к </a:t>
            </a:r>
            <a:r>
              <a:rPr lang="ru-RU" sz="1800" b="1" dirty="0">
                <a:latin typeface="+mn-lt"/>
              </a:rPr>
              <a:t>промежутку времени</a:t>
            </a:r>
            <a:r>
              <a:rPr lang="ru-RU" sz="1800" dirty="0">
                <a:latin typeface="+mn-lt"/>
              </a:rPr>
              <a:t>, за которое это перемещение происходит.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1F11B-30EC-AB1E-F215-748804BECFF0}"/>
              </a:ext>
            </a:extLst>
          </p:cNvPr>
          <p:cNvSpPr txBox="1"/>
          <p:nvPr/>
        </p:nvSpPr>
        <p:spPr>
          <a:xfrm>
            <a:off x="524760" y="2673836"/>
            <a:ext cx="8482871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" indent="0">
              <a:buNone/>
            </a:pPr>
            <a:r>
              <a:rPr lang="ru-RU" sz="1600" u="sng" dirty="0">
                <a:solidFill>
                  <a:schemeClr val="tx1"/>
                </a:solidFill>
                <a:latin typeface="Montserrat" panose="00000500000000000000" pitchFamily="2" charset="-52"/>
              </a:rPr>
              <a:t>То есть: сколько воздуха прошло через сечение трубы в единицу времени</a:t>
            </a:r>
          </a:p>
          <a:p>
            <a:pPr marL="45720" indent="0">
              <a:buNone/>
            </a:pPr>
            <a: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  <a:t>Обозначается буквой </a:t>
            </a: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-52"/>
              </a:rPr>
              <a:t>Q</a:t>
            </a:r>
            <a: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  <a:t>, считается в </a:t>
            </a: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-52"/>
              </a:rPr>
              <a:t>m^3</a:t>
            </a:r>
            <a: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  <a:t>/с или л/мин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6191C759-90A1-D500-D809-6D496EA2C35F}"/>
                  </a:ext>
                </a:extLst>
              </p:cNvPr>
              <p:cNvSpPr/>
              <p:nvPr/>
            </p:nvSpPr>
            <p:spPr>
              <a:xfrm>
                <a:off x="7040879" y="1196560"/>
                <a:ext cx="1438727" cy="12731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000" i="0" smtClean="0">
                          <a:latin typeface="+mn-lt"/>
                        </a:rPr>
                        <m:t>Q</m:t>
                      </m:r>
                      <m:r>
                        <m:rPr>
                          <m:nor/>
                        </m:rPr>
                        <a:rPr lang="en-US" sz="4000" i="0">
                          <a:latin typeface="+mn-lt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4000" b="0" i="0" smtClean="0">
                              <a:latin typeface="+mn-lt"/>
                            </a:rPr>
                            <m:t>V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4000" b="0" i="0" smtClean="0">
                              <a:latin typeface="+mn-lt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lang="ru-RU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6191C759-90A1-D500-D809-6D496EA2C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879" y="1196560"/>
                <a:ext cx="1438727" cy="12731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EB6686D5-3E84-3654-59CB-842B6141E197}"/>
                  </a:ext>
                </a:extLst>
              </p:cNvPr>
              <p:cNvSpPr/>
              <p:nvPr/>
            </p:nvSpPr>
            <p:spPr>
              <a:xfrm>
                <a:off x="7040879" y="463604"/>
                <a:ext cx="1749197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000" i="0" smtClean="0">
                          <a:latin typeface="+mn-lt"/>
                        </a:rPr>
                        <m:t>Q</m:t>
                      </m:r>
                      <m:r>
                        <m:rPr>
                          <m:nor/>
                        </m:rPr>
                        <a:rPr lang="en-US" sz="4000" i="0">
                          <a:latin typeface="+mn-lt"/>
                        </a:rPr>
                        <m:t>=</m:t>
                      </m:r>
                      <m:r>
                        <m:rPr>
                          <m:nor/>
                        </m:rPr>
                        <a:rPr lang="en-US" sz="4000" b="0" i="0" smtClean="0">
                          <a:latin typeface="+mn-lt"/>
                        </a:rPr>
                        <m:t>v</m:t>
                      </m:r>
                      <m:r>
                        <m:rPr>
                          <m:nor/>
                        </m:rPr>
                        <a:rPr lang="en-US" sz="4000" b="0" i="0" smtClean="0">
                          <a:latin typeface="+mn-lt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en-US" sz="4000" b="0" i="0" smtClean="0">
                          <a:latin typeface="+mn-lt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ru-RU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EB6686D5-3E84-3654-59CB-842B6141E1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879" y="463604"/>
                <a:ext cx="174919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80" name="Picture 8">
            <a:extLst>
              <a:ext uri="{FF2B5EF4-FFF2-40B4-BE49-F238E27FC236}">
                <a16:creationId xmlns:a16="http://schemas.microsoft.com/office/drawing/2014/main" id="{9D03F1CE-9B48-CC60-A0B7-D43D267E83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8" b="11912"/>
          <a:stretch/>
        </p:blipFill>
        <p:spPr bwMode="auto">
          <a:xfrm>
            <a:off x="2796348" y="3377480"/>
            <a:ext cx="3551304" cy="160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93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5472C08-768F-C95B-BD37-E48EF6F3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latin typeface="+mj-lt"/>
              </a:rPr>
              <a:t>Основные физические свойства газов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6CE72-37DE-AD7B-CE6D-C203FD2B7D5D}"/>
              </a:ext>
            </a:extLst>
          </p:cNvPr>
          <p:cNvSpPr txBox="1"/>
          <p:nvPr/>
        </p:nvSpPr>
        <p:spPr>
          <a:xfrm>
            <a:off x="715099" y="1711479"/>
            <a:ext cx="7417681" cy="2616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accent1"/>
                </a:solidFill>
                <a:latin typeface="+mn-lt"/>
              </a:rPr>
              <a:t>Сжимаемость</a:t>
            </a:r>
            <a:r>
              <a:rPr lang="en-US" sz="2000" b="1" dirty="0">
                <a:solidFill>
                  <a:schemeClr val="accent1"/>
                </a:solidFill>
                <a:latin typeface="+mn-lt"/>
              </a:rPr>
              <a:t> - </a:t>
            </a:r>
            <a:r>
              <a:rPr lang="ru-RU" sz="2000" dirty="0">
                <a:latin typeface="+mn-lt"/>
              </a:rPr>
              <a:t>газы изменяют объем под действием давления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accent1"/>
                </a:solidFill>
                <a:latin typeface="+mn-lt"/>
              </a:rPr>
              <a:t>Температурное расширение</a:t>
            </a:r>
            <a:r>
              <a:rPr lang="en-US" sz="2000" b="1" dirty="0">
                <a:solidFill>
                  <a:schemeClr val="accent1"/>
                </a:solidFill>
                <a:latin typeface="+mn-lt"/>
              </a:rPr>
              <a:t> - </a:t>
            </a:r>
            <a:r>
              <a:rPr lang="ru-RU" sz="2000" dirty="0">
                <a:latin typeface="+mn-lt"/>
              </a:rPr>
              <a:t>газы изменяют объем при изменении температуры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accent1"/>
                </a:solidFill>
                <a:latin typeface="+mn-lt"/>
              </a:rPr>
              <a:t>Вязкость</a:t>
            </a:r>
            <a:r>
              <a:rPr lang="en-US" sz="2000" b="1" dirty="0">
                <a:solidFill>
                  <a:schemeClr val="accent1"/>
                </a:solidFill>
                <a:latin typeface="+mn-lt"/>
              </a:rPr>
              <a:t> - </a:t>
            </a:r>
            <a:r>
              <a:rPr lang="ru-RU" sz="2000" dirty="0">
                <a:latin typeface="+mn-lt"/>
              </a:rPr>
              <a:t>свойство противодействовать сопротивление сдвигу (скольжению)</a:t>
            </a:r>
          </a:p>
          <a:p>
            <a:pPr>
              <a:spcBef>
                <a:spcPts val="120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4827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ED880-1402-AAA5-4293-1024DC86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99" y="3825550"/>
            <a:ext cx="7974579" cy="1253700"/>
          </a:xfrm>
        </p:spPr>
        <p:txBody>
          <a:bodyPr/>
          <a:lstStyle/>
          <a:p>
            <a:r>
              <a:rPr lang="ru-RU" sz="4400" dirty="0">
                <a:latin typeface="+mj-lt"/>
              </a:rPr>
              <a:t>Компоненты пневмосистем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037B7B0-2863-31B0-57FC-632B168FA0D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17600" y="2571750"/>
            <a:ext cx="7708800" cy="1253700"/>
          </a:xfrm>
        </p:spPr>
        <p:txBody>
          <a:bodyPr/>
          <a:lstStyle/>
          <a:p>
            <a:r>
              <a:rPr lang="ru-RU" dirty="0">
                <a:latin typeface="+mj-lt"/>
              </a:rPr>
              <a:t>02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C4A6ACB8-CF5F-9E32-7C24-79193D9C8E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80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050" y="332569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Зачем нужны пневмосистемы?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2409744" y="1060727"/>
            <a:ext cx="2093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j-lt"/>
              </a:rPr>
              <a:t>Перемещать объекты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D9F364-FA78-3BC1-46DD-98F32E90230D}"/>
              </a:ext>
            </a:extLst>
          </p:cNvPr>
          <p:cNvSpPr txBox="1"/>
          <p:nvPr/>
        </p:nvSpPr>
        <p:spPr>
          <a:xfrm>
            <a:off x="5972731" y="1048269"/>
            <a:ext cx="1794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j-lt"/>
              </a:rPr>
              <a:t>Создавать усилие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1F643-6E44-9E0D-4BAD-F2902C69864F}"/>
              </a:ext>
            </a:extLst>
          </p:cNvPr>
          <p:cNvSpPr txBox="1"/>
          <p:nvPr/>
        </p:nvSpPr>
        <p:spPr>
          <a:xfrm>
            <a:off x="1764956" y="4560960"/>
            <a:ext cx="2840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j-lt"/>
              </a:rPr>
              <a:t>Автоматизировать процессы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43432-CBDA-0C4B-D9F4-80EF42F8ABE4}"/>
              </a:ext>
            </a:extLst>
          </p:cNvPr>
          <p:cNvSpPr txBox="1"/>
          <p:nvPr/>
        </p:nvSpPr>
        <p:spPr>
          <a:xfrm>
            <a:off x="4829275" y="4523724"/>
            <a:ext cx="294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j-lt"/>
              </a:rPr>
              <a:t>Воздух как технологический инструмент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94BA0C-1589-ED6B-E8FF-9A5AC95ED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703" y="1386075"/>
            <a:ext cx="1814196" cy="14455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169501-16DE-0F86-C931-7E38802D1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373" y="1393952"/>
            <a:ext cx="1919454" cy="14297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21E800-4DBB-93D4-1303-4858F920F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74" y="1388169"/>
            <a:ext cx="1814196" cy="14533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50" name="Picture 2" descr="Особенности и преимущества пневматических систем в промышленности">
            <a:extLst>
              <a:ext uri="{FF2B5EF4-FFF2-40B4-BE49-F238E27FC236}">
                <a16:creationId xmlns:a16="http://schemas.microsoft.com/office/drawing/2014/main" id="{48B58D4F-CA15-B143-B7CD-45F2E2853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16" y="3061171"/>
            <a:ext cx="2049699" cy="145286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ушилка для дров с теплогенератором. Цена">
            <a:extLst>
              <a:ext uri="{FF2B5EF4-FFF2-40B4-BE49-F238E27FC236}">
                <a16:creationId xmlns:a16="http://schemas.microsoft.com/office/drawing/2014/main" id="{5E1FD1D8-A1A2-D538-D6A5-6A9827107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566" y="3061171"/>
            <a:ext cx="2459100" cy="145286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32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9BCD05D-2090-342E-F936-275AADA70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423" y="130419"/>
            <a:ext cx="3180117" cy="484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45BAC0DE-5416-0B3F-FE3C-8B4DCA600974}"/>
              </a:ext>
            </a:extLst>
          </p:cNvPr>
          <p:cNvSpPr txBox="1">
            <a:spLocks/>
          </p:cNvSpPr>
          <p:nvPr/>
        </p:nvSpPr>
        <p:spPr>
          <a:xfrm>
            <a:off x="715050" y="332569"/>
            <a:ext cx="341588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dirty="0">
                <a:latin typeface="+mj-lt"/>
              </a:rPr>
              <a:t>Из чего состоит пневмосистема?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8C010-4D16-2334-D0EA-B3449F7C185D}"/>
              </a:ext>
            </a:extLst>
          </p:cNvPr>
          <p:cNvSpPr txBox="1"/>
          <p:nvPr/>
        </p:nvSpPr>
        <p:spPr>
          <a:xfrm>
            <a:off x="715050" y="1838030"/>
            <a:ext cx="348525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Нельзя просто взять </a:t>
            </a:r>
            <a:r>
              <a:rPr lang="ru-RU" sz="1800" b="1" dirty="0">
                <a:latin typeface="+mn-lt"/>
              </a:rPr>
              <a:t>воздух</a:t>
            </a:r>
            <a:r>
              <a:rPr lang="ru-RU" sz="1800" dirty="0">
                <a:latin typeface="+mn-lt"/>
              </a:rPr>
              <a:t> из атмосферы и сделать так, чтоб он делал </a:t>
            </a:r>
            <a:r>
              <a:rPr lang="ru-RU" sz="1800" b="1" dirty="0">
                <a:latin typeface="+mn-lt"/>
              </a:rPr>
              <a:t>полезную работу</a:t>
            </a:r>
          </a:p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Для этого нужно </a:t>
            </a:r>
            <a:r>
              <a:rPr lang="ru-RU" sz="1800" b="1" dirty="0">
                <a:latin typeface="+mn-lt"/>
              </a:rPr>
              <a:t>много устройств</a:t>
            </a:r>
            <a:r>
              <a:rPr lang="ru-RU" sz="1800" dirty="0">
                <a:latin typeface="+mn-lt"/>
              </a:rPr>
              <a:t>, каждое из которых выполняет свою задачу</a:t>
            </a:r>
          </a:p>
        </p:txBody>
      </p:sp>
    </p:spTree>
    <p:extLst>
      <p:ext uri="{BB962C8B-B14F-4D97-AF65-F5344CB8AC3E}">
        <p14:creationId xmlns:p14="http://schemas.microsoft.com/office/powerpoint/2010/main" val="3789620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Компоненты пневмосистем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715101" y="1661158"/>
            <a:ext cx="31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Энергообеспечивающая подсистема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D9F364-FA78-3BC1-46DD-98F32E90230D}"/>
              </a:ext>
            </a:extLst>
          </p:cNvPr>
          <p:cNvSpPr txBox="1"/>
          <p:nvPr/>
        </p:nvSpPr>
        <p:spPr>
          <a:xfrm>
            <a:off x="5142320" y="1661159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chemeClr val="bg1">
                    <a:lumMod val="25000"/>
                  </a:schemeClr>
                </a:solidFill>
                <a:latin typeface="+mj-lt"/>
              </a:rPr>
              <a:t>Исполнительная подсистема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F22F03-EAA8-1D12-E910-18E13F221C64}"/>
              </a:ext>
            </a:extLst>
          </p:cNvPr>
          <p:cNvSpPr txBox="1"/>
          <p:nvPr/>
        </p:nvSpPr>
        <p:spPr>
          <a:xfrm>
            <a:off x="819050" y="2660990"/>
            <a:ext cx="37529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Компрессор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Фильтр очистки воздуха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 err="1">
                <a:latin typeface="+mn-lt"/>
              </a:rPr>
              <a:t>Влагооиделитель</a:t>
            </a:r>
            <a:endParaRPr lang="ru-R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Охладитель</a:t>
            </a:r>
            <a:r>
              <a:rPr lang="en-US" sz="1800" dirty="0">
                <a:latin typeface="+mn-lt"/>
              </a:rPr>
              <a:t>/</a:t>
            </a:r>
            <a:r>
              <a:rPr lang="ru-RU" sz="1800" dirty="0">
                <a:latin typeface="+mn-lt"/>
              </a:rPr>
              <a:t>Теплообменник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Ресивер</a:t>
            </a:r>
            <a:r>
              <a:rPr lang="en-US" sz="1800" dirty="0">
                <a:latin typeface="+mn-lt"/>
              </a:rPr>
              <a:t>/</a:t>
            </a:r>
            <a:r>
              <a:rPr lang="ru-RU" sz="1800" dirty="0" err="1">
                <a:latin typeface="+mn-lt"/>
              </a:rPr>
              <a:t>Пневмоаккумулятор</a:t>
            </a:r>
            <a:endParaRPr lang="ru-RU" sz="1800" dirty="0">
              <a:latin typeface="+mn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011B1D-C090-6E89-CC64-04C43B094434}"/>
              </a:ext>
            </a:extLst>
          </p:cNvPr>
          <p:cNvSpPr txBox="1"/>
          <p:nvPr/>
        </p:nvSpPr>
        <p:spPr>
          <a:xfrm>
            <a:off x="5300993" y="2660990"/>
            <a:ext cx="29594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 err="1">
                <a:latin typeface="+mn-lt"/>
              </a:rPr>
              <a:t>Пневмоцилиндр</a:t>
            </a:r>
            <a:endParaRPr lang="ru-R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Распределитель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Обратный клапан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 err="1">
                <a:latin typeface="+mn-lt"/>
              </a:rPr>
              <a:t>Пневмомотор</a:t>
            </a:r>
            <a:endParaRPr lang="ru-R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Захватное устройство</a:t>
            </a:r>
          </a:p>
        </p:txBody>
      </p:sp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22EAFD96-38C2-121A-B04A-E5B2B59CCC47}"/>
              </a:ext>
            </a:extLst>
          </p:cNvPr>
          <p:cNvSpPr/>
          <p:nvPr/>
        </p:nvSpPr>
        <p:spPr>
          <a:xfrm>
            <a:off x="2590800" y="2103120"/>
            <a:ext cx="165392" cy="594360"/>
          </a:xfrm>
          <a:custGeom>
            <a:avLst/>
            <a:gdLst>
              <a:gd name="connsiteX0" fmla="*/ 0 w 302552"/>
              <a:gd name="connsiteY0" fmla="*/ 0 h 594360"/>
              <a:gd name="connsiteX1" fmla="*/ 281940 w 302552"/>
              <a:gd name="connsiteY1" fmla="*/ 213360 h 594360"/>
              <a:gd name="connsiteX2" fmla="*/ 259080 w 302552"/>
              <a:gd name="connsiteY2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2552" h="594360">
                <a:moveTo>
                  <a:pt x="0" y="0"/>
                </a:moveTo>
                <a:cubicBezTo>
                  <a:pt x="119380" y="57150"/>
                  <a:pt x="238760" y="114300"/>
                  <a:pt x="281940" y="213360"/>
                </a:cubicBezTo>
                <a:cubicBezTo>
                  <a:pt x="325120" y="312420"/>
                  <a:pt x="292100" y="453390"/>
                  <a:pt x="259080" y="594360"/>
                </a:cubicBezTo>
              </a:path>
            </a:pathLst>
          </a:custGeom>
          <a:noFill/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9134F59D-D187-6135-34D1-2797889416BF}"/>
              </a:ext>
            </a:extLst>
          </p:cNvPr>
          <p:cNvSpPr/>
          <p:nvPr/>
        </p:nvSpPr>
        <p:spPr>
          <a:xfrm>
            <a:off x="6391679" y="2065020"/>
            <a:ext cx="138661" cy="541020"/>
          </a:xfrm>
          <a:custGeom>
            <a:avLst/>
            <a:gdLst>
              <a:gd name="connsiteX0" fmla="*/ 77701 w 138661"/>
              <a:gd name="connsiteY0" fmla="*/ 0 h 541020"/>
              <a:gd name="connsiteX1" fmla="*/ 1501 w 138661"/>
              <a:gd name="connsiteY1" fmla="*/ 289560 h 541020"/>
              <a:gd name="connsiteX2" fmla="*/ 138661 w 138661"/>
              <a:gd name="connsiteY2" fmla="*/ 541020 h 54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661" h="541020">
                <a:moveTo>
                  <a:pt x="77701" y="0"/>
                </a:moveTo>
                <a:cubicBezTo>
                  <a:pt x="34521" y="99695"/>
                  <a:pt x="-8659" y="199390"/>
                  <a:pt x="1501" y="289560"/>
                </a:cubicBezTo>
                <a:cubicBezTo>
                  <a:pt x="11661" y="379730"/>
                  <a:pt x="75161" y="460375"/>
                  <a:pt x="138661" y="541020"/>
                </a:cubicBezTo>
              </a:path>
            </a:pathLst>
          </a:custGeom>
          <a:noFill/>
          <a:ln w="28575">
            <a:solidFill>
              <a:schemeClr val="bg1">
                <a:lumMod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Компрессор</a:t>
            </a:r>
            <a:endParaRPr dirty="0">
              <a:latin typeface="+mj-lt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7DD78E2-B54D-48B9-2D10-E2F27F82B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65" y="1690164"/>
            <a:ext cx="2253620" cy="188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EA6BDF8-1138-E4E9-E69F-22AE3337D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029" y="1459174"/>
            <a:ext cx="5662612" cy="314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Компрессор воздушный ременной, 440 л/мин, 100 л, 2200 Вт, ЗУБР по цене 51  340 руб. у официального партнера ЗУБР в России">
            <a:extLst>
              <a:ext uri="{FF2B5EF4-FFF2-40B4-BE49-F238E27FC236}">
                <a16:creationId xmlns:a16="http://schemas.microsoft.com/office/drawing/2014/main" id="{5D237462-38F2-FEB5-6FE3-37DFF8A75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664" y="326310"/>
            <a:ext cx="1340206" cy="113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391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76461" y="41416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Поршневой компрессор</a:t>
            </a:r>
            <a:endParaRPr dirty="0">
              <a:latin typeface="+mj-lt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28DEB52-942C-294C-E6D7-E363AE59B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83" b="89879" l="4422" r="91497">
                        <a14:foregroundMark x1="11565" y1="36437" x2="7143" y2="59919"/>
                        <a14:foregroundMark x1="7143" y1="59919" x2="15306" y2="61943"/>
                        <a14:foregroundMark x1="4422" y1="42915" x2="6463" y2="57085"/>
                        <a14:foregroundMark x1="21769" y1="42510" x2="34014" y2="54656"/>
                        <a14:foregroundMark x1="34014" y1="54656" x2="35374" y2="53441"/>
                        <a14:foregroundMark x1="36395" y1="56275" x2="25850" y2="57085"/>
                        <a14:foregroundMark x1="21088" y1="56275" x2="21429" y2="49393"/>
                        <a14:foregroundMark x1="27891" y1="45344" x2="34354" y2="44130"/>
                        <a14:backgroundMark x1="71429" y1="28745" x2="84694" y2="29150"/>
                        <a14:backgroundMark x1="71088" y1="28340" x2="71088" y2="28340"/>
                        <a14:backgroundMark x1="70748" y1="28340" x2="70748" y2="28745"/>
                        <a14:backgroundMark x1="71769" y1="27935" x2="71429" y2="29150"/>
                        <a14:backgroundMark x1="54762" y1="18219" x2="95238" y2="17004"/>
                        <a14:backgroundMark x1="79252" y1="17814" x2="59184" y2="12955"/>
                        <a14:backgroundMark x1="59184" y1="12955" x2="55782" y2="8097"/>
                        <a14:backgroundMark x1="59524" y1="12146" x2="53061" y2="11741"/>
                        <a14:backgroundMark x1="53401" y1="10931" x2="52721" y2="14575"/>
                        <a14:backgroundMark x1="53061" y1="12551" x2="88776" y2="6478"/>
                        <a14:backgroundMark x1="55102" y1="6883" x2="73810" y2="7287"/>
                        <a14:backgroundMark x1="73810" y1="7287" x2="95238" y2="6883"/>
                        <a14:backgroundMark x1="95238" y1="6883" x2="95238" y2="6883"/>
                        <a14:backgroundMark x1="95238" y1="6478" x2="88776" y2="8502"/>
                      </a14:backgroundRemoval>
                    </a14:imgEffect>
                  </a14:imgLayer>
                </a14:imgProps>
              </a:ext>
            </a:extLst>
          </a:blip>
          <a:srcRect t="32472" r="41645" b="30777"/>
          <a:stretch/>
        </p:blipFill>
        <p:spPr>
          <a:xfrm>
            <a:off x="133984" y="2389557"/>
            <a:ext cx="2403280" cy="12715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15B8D0-8E4B-1AFD-1DA8-29B3AC344696}"/>
              </a:ext>
            </a:extLst>
          </p:cNvPr>
          <p:cNvSpPr txBox="1"/>
          <p:nvPr/>
        </p:nvSpPr>
        <p:spPr>
          <a:xfrm>
            <a:off x="1201478" y="1667740"/>
            <a:ext cx="2185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Кривошипно-шатунный</a:t>
            </a:r>
          </a:p>
          <a:p>
            <a:r>
              <a:rPr lang="ru-RU" dirty="0">
                <a:latin typeface="+mn-lt"/>
              </a:rPr>
              <a:t>механизм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C6B7CA-2549-05D4-6B1D-F7C9851756B8}"/>
              </a:ext>
            </a:extLst>
          </p:cNvPr>
          <p:cNvSpPr txBox="1"/>
          <p:nvPr/>
        </p:nvSpPr>
        <p:spPr>
          <a:xfrm>
            <a:off x="2431608" y="1984849"/>
            <a:ext cx="1647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n-lt"/>
              </a:rPr>
              <a:t>Рабочая камера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4E414-5E93-6E7F-27B5-53BFED6696F4}"/>
              </a:ext>
            </a:extLst>
          </p:cNvPr>
          <p:cNvSpPr txBox="1"/>
          <p:nvPr/>
        </p:nvSpPr>
        <p:spPr>
          <a:xfrm>
            <a:off x="2795370" y="2490190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Клапаны</a:t>
            </a:r>
            <a:endParaRPr lang="ru-RU" sz="1800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B2ACB8-975A-7EA9-2DBA-CACD67E447BC}"/>
              </a:ext>
            </a:extLst>
          </p:cNvPr>
          <p:cNvSpPr txBox="1"/>
          <p:nvPr/>
        </p:nvSpPr>
        <p:spPr>
          <a:xfrm>
            <a:off x="2424569" y="3503446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Поршень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C4ECE-C379-B888-AD07-17145AB21C9D}"/>
              </a:ext>
            </a:extLst>
          </p:cNvPr>
          <p:cNvSpPr txBox="1"/>
          <p:nvPr/>
        </p:nvSpPr>
        <p:spPr>
          <a:xfrm>
            <a:off x="1798217" y="366114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Корпус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1E4B76-697B-83DF-153C-36974EC8B30C}"/>
              </a:ext>
            </a:extLst>
          </p:cNvPr>
          <p:cNvSpPr txBox="1"/>
          <p:nvPr/>
        </p:nvSpPr>
        <p:spPr>
          <a:xfrm>
            <a:off x="1360535" y="366495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Вал</a:t>
            </a:r>
            <a:endParaRPr lang="ru-RU" sz="1800" dirty="0">
              <a:latin typeface="+mn-lt"/>
            </a:endParaRP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8184AB6-B31B-3229-2DB1-880F7C66F82D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2169160" y="2292626"/>
            <a:ext cx="1086433" cy="462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2D93DE11-7D9C-6C4F-0CC4-342B466CAC0C}"/>
              </a:ext>
            </a:extLst>
          </p:cNvPr>
          <p:cNvCxnSpPr>
            <a:stCxn id="13" idx="2"/>
          </p:cNvCxnSpPr>
          <p:nvPr/>
        </p:nvCxnSpPr>
        <p:spPr>
          <a:xfrm flipH="1">
            <a:off x="1273810" y="2190960"/>
            <a:ext cx="1020275" cy="721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0858EEFF-C643-4AD1-4D19-C21800C21CD6}"/>
              </a:ext>
            </a:extLst>
          </p:cNvPr>
          <p:cNvCxnSpPr>
            <a:stCxn id="16" idx="2"/>
          </p:cNvCxnSpPr>
          <p:nvPr/>
        </p:nvCxnSpPr>
        <p:spPr>
          <a:xfrm flipH="1">
            <a:off x="2294085" y="2797967"/>
            <a:ext cx="961508" cy="114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86F2560-A99F-524A-26A6-384CFC115B4B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1902460" y="3171401"/>
            <a:ext cx="1003171" cy="332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F847168E-B907-3634-45D2-8026DA29CFF7}"/>
              </a:ext>
            </a:extLst>
          </p:cNvPr>
          <p:cNvCxnSpPr/>
          <p:nvPr/>
        </p:nvCxnSpPr>
        <p:spPr>
          <a:xfrm flipH="1" flipV="1">
            <a:off x="1902460" y="3400001"/>
            <a:ext cx="295065" cy="257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AF0F89C4-8F09-572E-0CEB-353DDCF867EA}"/>
              </a:ext>
            </a:extLst>
          </p:cNvPr>
          <p:cNvCxnSpPr>
            <a:stCxn id="22" idx="0"/>
          </p:cNvCxnSpPr>
          <p:nvPr/>
        </p:nvCxnSpPr>
        <p:spPr>
          <a:xfrm flipH="1" flipV="1">
            <a:off x="778510" y="2974551"/>
            <a:ext cx="830651" cy="690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226362" y="1481444"/>
            <a:ext cx="464161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Работа поршня в цилиндре приводится в действие </a:t>
            </a:r>
            <a:r>
              <a:rPr lang="ru-RU" sz="1800" b="1" dirty="0">
                <a:latin typeface="+mn-lt"/>
              </a:rPr>
              <a:t>шатунным механизмом</a:t>
            </a:r>
            <a:endParaRPr lang="ru-RU" sz="1800" dirty="0">
              <a:latin typeface="+mn-lt"/>
            </a:endParaRPr>
          </a:p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В зависимости от положения поршня рабочая камера последовательно </a:t>
            </a:r>
            <a:r>
              <a:rPr lang="ru-RU" sz="1800" b="1" dirty="0">
                <a:latin typeface="+mn-lt"/>
              </a:rPr>
              <a:t>изменяет свой внутренний объем</a:t>
            </a:r>
          </a:p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Утечка рабочей среды в обратном направлении предотвращается односторонними клапанами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61E3AE3-4382-7337-2F95-B50B59D96F4A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4FA2551-E004-701F-D8B6-767B8C83E3AE}"/>
              </a:ext>
            </a:extLst>
          </p:cNvPr>
          <p:cNvSpPr txBox="1"/>
          <p:nvPr/>
        </p:nvSpPr>
        <p:spPr>
          <a:xfrm>
            <a:off x="756923" y="4600465"/>
            <a:ext cx="6778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Видео: </a:t>
            </a:r>
            <a:r>
              <a:rPr lang="en-US" dirty="0">
                <a:solidFill>
                  <a:schemeClr val="accent1"/>
                </a:solidFill>
                <a:latin typeface="+mn-lt"/>
                <a:hlinkClick r:id="rId5"/>
              </a:rPr>
              <a:t>https://www.youtube.com/watch?v=qLsU43It7fY</a:t>
            </a:r>
            <a:r>
              <a:rPr lang="ru-RU" dirty="0">
                <a:solidFill>
                  <a:schemeClr val="accent1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8812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20254" y="418962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Мембранный компрессор</a:t>
            </a:r>
            <a:br>
              <a:rPr lang="ru-RU" sz="2800" dirty="0">
                <a:latin typeface="+mj-lt"/>
              </a:rPr>
            </a:br>
            <a:endParaRPr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5B8D0-8E4B-1AFD-1DA8-29B3AC344696}"/>
              </a:ext>
            </a:extLst>
          </p:cNvPr>
          <p:cNvSpPr txBox="1"/>
          <p:nvPr/>
        </p:nvSpPr>
        <p:spPr>
          <a:xfrm>
            <a:off x="217161" y="1657580"/>
            <a:ext cx="2185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Кривошипно-шатунный</a:t>
            </a:r>
          </a:p>
          <a:p>
            <a:r>
              <a:rPr lang="ru-RU" dirty="0">
                <a:latin typeface="+mn-lt"/>
              </a:rPr>
              <a:t>механизм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C6B7CA-2549-05D4-6B1D-F7C9851756B8}"/>
              </a:ext>
            </a:extLst>
          </p:cNvPr>
          <p:cNvSpPr txBox="1"/>
          <p:nvPr/>
        </p:nvSpPr>
        <p:spPr>
          <a:xfrm>
            <a:off x="2847037" y="1978622"/>
            <a:ext cx="1647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n-lt"/>
              </a:rPr>
              <a:t>Рабочая камера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4E414-5E93-6E7F-27B5-53BFED6696F4}"/>
              </a:ext>
            </a:extLst>
          </p:cNvPr>
          <p:cNvSpPr txBox="1"/>
          <p:nvPr/>
        </p:nvSpPr>
        <p:spPr>
          <a:xfrm>
            <a:off x="3400257" y="2796098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Клапаны</a:t>
            </a:r>
            <a:endParaRPr lang="ru-RU" sz="1800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B2ACB8-975A-7EA9-2DBA-CACD67E447BC}"/>
              </a:ext>
            </a:extLst>
          </p:cNvPr>
          <p:cNvSpPr txBox="1"/>
          <p:nvPr/>
        </p:nvSpPr>
        <p:spPr>
          <a:xfrm>
            <a:off x="1917132" y="3868061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Поршень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C4ECE-C379-B888-AD07-17145AB21C9D}"/>
              </a:ext>
            </a:extLst>
          </p:cNvPr>
          <p:cNvSpPr txBox="1"/>
          <p:nvPr/>
        </p:nvSpPr>
        <p:spPr>
          <a:xfrm>
            <a:off x="3084865" y="3884682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Корпус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761FE6-B14E-E0C0-7F8E-E4FC9F07D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2784" y1="42724" x2="30972" y2="50464"/>
                        <a14:foregroundMark x1="35750" y1="58204" x2="30972" y2="56656"/>
                        <a14:foregroundMark x1="43657" y1="56347" x2="41845" y2="57895"/>
                        <a14:foregroundMark x1="44152" y1="46440" x2="45634" y2="45511"/>
                        <a14:foregroundMark x1="34102" y1="34675" x2="35091" y2="34675"/>
                      </a14:backgroundRemoval>
                    </a14:imgEffect>
                  </a14:imgLayer>
                </a14:imgProps>
              </a:ext>
            </a:extLst>
          </a:blip>
          <a:srcRect l="24746" t="18642" r="23194" b="14330"/>
          <a:stretch/>
        </p:blipFill>
        <p:spPr>
          <a:xfrm>
            <a:off x="680169" y="2074818"/>
            <a:ext cx="2816889" cy="192992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1E4B76-697B-83DF-153C-36974EC8B30C}"/>
              </a:ext>
            </a:extLst>
          </p:cNvPr>
          <p:cNvSpPr txBox="1"/>
          <p:nvPr/>
        </p:nvSpPr>
        <p:spPr>
          <a:xfrm>
            <a:off x="1451444" y="386806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Вал</a:t>
            </a:r>
            <a:endParaRPr lang="ru-RU" sz="1800" dirty="0">
              <a:latin typeface="+mn-lt"/>
            </a:endParaRP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8184AB6-B31B-3229-2DB1-880F7C66F82D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2964652" y="2286399"/>
            <a:ext cx="706370" cy="433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2D93DE11-7D9C-6C4F-0CC4-342B466CAC0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309768" y="2180800"/>
            <a:ext cx="220308" cy="731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0858EEFF-C643-4AD1-4D19-C21800C21CD6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3181201" y="3103875"/>
            <a:ext cx="679279" cy="212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86F2560-A99F-524A-26A6-384CFC115B4B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2096531" y="3224310"/>
            <a:ext cx="301663" cy="64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F847168E-B907-3634-45D2-8026DA29CFF7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3167236" y="3510953"/>
            <a:ext cx="316938" cy="373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AF0F89C4-8F09-572E-0CEB-353DDCF867EA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1275371" y="2912605"/>
            <a:ext cx="424699" cy="955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450243" y="1316232"/>
            <a:ext cx="464161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Конструкция мембранного аппарата содержит </a:t>
            </a:r>
            <a:r>
              <a:rPr lang="ru-RU" sz="1800" b="1" dirty="0">
                <a:latin typeface="+mn-lt"/>
              </a:rPr>
              <a:t>эластичную мембрану</a:t>
            </a:r>
            <a:r>
              <a:rPr lang="ru-RU" sz="1800" dirty="0">
                <a:latin typeface="+mn-lt"/>
              </a:rPr>
              <a:t>, которая выполняет роль поршня</a:t>
            </a:r>
          </a:p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Изгибаясь, мембрана </a:t>
            </a:r>
            <a:r>
              <a:rPr lang="ru-RU" sz="1800" b="1" dirty="0">
                <a:latin typeface="+mn-lt"/>
              </a:rPr>
              <a:t>увеличивает или уменьшает объем </a:t>
            </a:r>
            <a:r>
              <a:rPr lang="ru-RU" sz="1800" dirty="0">
                <a:latin typeface="+mn-lt"/>
              </a:rPr>
              <a:t>рабочей камеры, в которой происходит процесс сжатия воздуха</a:t>
            </a:r>
          </a:p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При этом, рабочая среда в процессе сжатия контактирует только с камерой и мембраной, поэтому на выходе сжатый воздух не содержит масел и влаги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E7DAFE-60C5-8CB4-5D05-2CD08F4212E8}"/>
              </a:ext>
            </a:extLst>
          </p:cNvPr>
          <p:cNvSpPr txBox="1"/>
          <p:nvPr/>
        </p:nvSpPr>
        <p:spPr>
          <a:xfrm>
            <a:off x="2418971" y="1479203"/>
            <a:ext cx="1647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n-lt"/>
              </a:rPr>
              <a:t>Приводная жидкость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0FA33DE-7B14-6BE4-7F6C-C962CC3B0536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2418971" y="1740813"/>
            <a:ext cx="336612" cy="86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FEE6ED4-2D37-A715-C696-5B253CA01D4A}"/>
              </a:ext>
            </a:extLst>
          </p:cNvPr>
          <p:cNvSpPr txBox="1"/>
          <p:nvPr/>
        </p:nvSpPr>
        <p:spPr>
          <a:xfrm>
            <a:off x="2587277" y="4301538"/>
            <a:ext cx="1083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n-lt"/>
              </a:rPr>
              <a:t>Мембрана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37847D29-52A3-71FB-022A-3D1B591ACA3C}"/>
              </a:ext>
            </a:extLst>
          </p:cNvPr>
          <p:cNvCxnSpPr>
            <a:stCxn id="24" idx="0"/>
          </p:cNvCxnSpPr>
          <p:nvPr/>
        </p:nvCxnSpPr>
        <p:spPr>
          <a:xfrm flipH="1" flipV="1">
            <a:off x="2879255" y="3510953"/>
            <a:ext cx="249877" cy="790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CD0DDCE-E308-587B-7CD8-EFC3AADE1F42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17B3A97-B3CA-1298-0150-02E9F54D9352}"/>
              </a:ext>
            </a:extLst>
          </p:cNvPr>
          <p:cNvSpPr txBox="1"/>
          <p:nvPr/>
        </p:nvSpPr>
        <p:spPr>
          <a:xfrm>
            <a:off x="295210" y="4739529"/>
            <a:ext cx="6778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Видео: </a:t>
            </a:r>
            <a:r>
              <a:rPr lang="en-US" dirty="0">
                <a:solidFill>
                  <a:schemeClr val="accent1"/>
                </a:solidFill>
                <a:latin typeface="+mn-lt"/>
                <a:hlinkClick r:id="rId5"/>
              </a:rPr>
              <a:t>https://www.youtube.com/watch?v=GzB3utv8hfQ</a:t>
            </a:r>
            <a:r>
              <a:rPr lang="ru-RU" dirty="0">
                <a:solidFill>
                  <a:schemeClr val="accent1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0610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585672-5F09-37ED-C0BB-16420DEB7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71" b="89443" l="9752" r="92397">
                        <a14:foregroundMark x1="41818" y1="34897" x2="41818" y2="39296"/>
                        <a14:foregroundMark x1="90413" y1="33431" x2="85455" y2="51026"/>
                        <a14:foregroundMark x1="85455" y1="51026" x2="90083" y2="63930"/>
                        <a14:foregroundMark x1="90083" y1="63930" x2="90909" y2="44575"/>
                        <a14:foregroundMark x1="90909" y1="44575" x2="90744" y2="43109"/>
                        <a14:foregroundMark x1="92397" y1="41642" x2="91405" y2="35484"/>
                        <a14:foregroundMark x1="66116" y1="63930" x2="65124" y2="68328"/>
                        <a14:foregroundMark x1="44793" y1="36950" x2="68926" y2="37830"/>
                        <a14:foregroundMark x1="60165" y1="37243" x2="69091" y2="37830"/>
                      </a14:backgroundRemoval>
                    </a14:imgEffect>
                  </a14:imgLayer>
                </a14:imgProps>
              </a:ext>
            </a:extLst>
          </a:blip>
          <a:srcRect l="35156" t="29961" r="3197" b="25076"/>
          <a:stretch/>
        </p:blipFill>
        <p:spPr>
          <a:xfrm>
            <a:off x="1056263" y="2148772"/>
            <a:ext cx="3552540" cy="1460408"/>
          </a:xfrm>
          <a:prstGeom prst="rect">
            <a:avLst/>
          </a:prstGeom>
        </p:spPr>
      </p:pic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00596" y="42884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Винтовой компрессор</a:t>
            </a:r>
            <a:br>
              <a:rPr lang="ru-RU" sz="2800" dirty="0">
                <a:latin typeface="+mj-lt"/>
              </a:rPr>
            </a:br>
            <a:endParaRPr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5B8D0-8E4B-1AFD-1DA8-29B3AC344696}"/>
              </a:ext>
            </a:extLst>
          </p:cNvPr>
          <p:cNvSpPr txBox="1"/>
          <p:nvPr/>
        </p:nvSpPr>
        <p:spPr>
          <a:xfrm>
            <a:off x="651501" y="1657580"/>
            <a:ext cx="1745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Входной патрубок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B2ACB8-975A-7EA9-2DBA-CACD67E447BC}"/>
              </a:ext>
            </a:extLst>
          </p:cNvPr>
          <p:cNvSpPr txBox="1"/>
          <p:nvPr/>
        </p:nvSpPr>
        <p:spPr>
          <a:xfrm>
            <a:off x="1302858" y="3770791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Ведущий винт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C4ECE-C379-B888-AD07-17145AB21C9D}"/>
              </a:ext>
            </a:extLst>
          </p:cNvPr>
          <p:cNvSpPr txBox="1"/>
          <p:nvPr/>
        </p:nvSpPr>
        <p:spPr>
          <a:xfrm>
            <a:off x="3226980" y="383929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Корпус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1E4B76-697B-83DF-153C-36974EC8B30C}"/>
              </a:ext>
            </a:extLst>
          </p:cNvPr>
          <p:cNvSpPr txBox="1"/>
          <p:nvPr/>
        </p:nvSpPr>
        <p:spPr>
          <a:xfrm>
            <a:off x="564663" y="3463014"/>
            <a:ext cx="1390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Ведомый винт</a:t>
            </a:r>
            <a:endParaRPr lang="ru-RU" sz="1800" dirty="0">
              <a:latin typeface="+mn-lt"/>
            </a:endParaRP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2D93DE11-7D9C-6C4F-0CC4-342B466CAC0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461987" y="1965357"/>
            <a:ext cx="62510" cy="407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86F2560-A99F-524A-26A6-384CFC115B4B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990707" y="3103875"/>
            <a:ext cx="318076" cy="666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F847168E-B907-3634-45D2-8026DA29CFF7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3058471" y="3276090"/>
            <a:ext cx="567818" cy="56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AF0F89C4-8F09-572E-0CEB-353DDCF867EA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1259725" y="2686050"/>
            <a:ext cx="342465" cy="7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5047890" y="2169336"/>
            <a:ext cx="38023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Конструкция таких компрессоров включает один и более </a:t>
            </a:r>
            <a:r>
              <a:rPr lang="ru-RU" sz="1800" b="1" dirty="0">
                <a:latin typeface="+mn-lt"/>
              </a:rPr>
              <a:t>винтов</a:t>
            </a:r>
            <a:r>
              <a:rPr lang="ru-RU" sz="1800" dirty="0">
                <a:latin typeface="+mn-lt"/>
              </a:rPr>
              <a:t>, которые обеспечивают нагнетание воздуха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E7DAFE-60C5-8CB4-5D05-2CD08F4212E8}"/>
              </a:ext>
            </a:extLst>
          </p:cNvPr>
          <p:cNvSpPr txBox="1"/>
          <p:nvPr/>
        </p:nvSpPr>
        <p:spPr>
          <a:xfrm>
            <a:off x="2374383" y="1317460"/>
            <a:ext cx="231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n-lt"/>
              </a:rPr>
              <a:t>Объем газа, отсечённый винтами и корпусом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0FA33DE-7B14-6BE4-7F6C-C962CC3B0536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2045951" y="1579070"/>
            <a:ext cx="328432" cy="1020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FEE6ED4-2D37-A715-C696-5B253CA01D4A}"/>
              </a:ext>
            </a:extLst>
          </p:cNvPr>
          <p:cNvSpPr txBox="1"/>
          <p:nvPr/>
        </p:nvSpPr>
        <p:spPr>
          <a:xfrm>
            <a:off x="2374383" y="4078568"/>
            <a:ext cx="1083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n-lt"/>
              </a:rPr>
              <a:t>Выходной патрубок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37847D29-52A3-71FB-022A-3D1B591ACA3C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2747870" y="3448582"/>
            <a:ext cx="168368" cy="629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2427BCD-73F9-6B65-E399-0E129972C45A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E3BB2C-16F7-7735-D619-A0FC359FC283}"/>
              </a:ext>
            </a:extLst>
          </p:cNvPr>
          <p:cNvSpPr txBox="1"/>
          <p:nvPr/>
        </p:nvSpPr>
        <p:spPr>
          <a:xfrm>
            <a:off x="3865456" y="4530678"/>
            <a:ext cx="6778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Видео: </a:t>
            </a:r>
            <a:r>
              <a:rPr lang="en-US" dirty="0">
                <a:solidFill>
                  <a:schemeClr val="accent1"/>
                </a:solidFill>
                <a:latin typeface="+mn-lt"/>
                <a:hlinkClick r:id="rId5"/>
              </a:rPr>
              <a:t>https://www.youtube.com/watch?v=zd-oOrdHGV0</a:t>
            </a:r>
            <a:r>
              <a:rPr lang="ru-RU" dirty="0">
                <a:solidFill>
                  <a:schemeClr val="accent1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6230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4CED4A-8B4D-D8AA-2DA6-3BCCCA637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6865" y1="42614" x2="44224" y2="48011"/>
                        <a14:foregroundMark x1="44059" y1="58239" x2="42409" y2="63636"/>
                        <a14:foregroundMark x1="43564" y1="51705" x2="53630" y2="75000"/>
                        <a14:foregroundMark x1="53630" y1="75000" x2="64686" y2="65625"/>
                        <a14:foregroundMark x1="64686" y1="65625" x2="63696" y2="38636"/>
                        <a14:foregroundMark x1="63696" y1="38636" x2="51320" y2="34091"/>
                        <a14:foregroundMark x1="52145" y1="28693" x2="58086" y2="28409"/>
                        <a14:foregroundMark x1="62871" y1="27841" x2="71452" y2="37784"/>
                        <a14:foregroundMark x1="71452" y1="52273" x2="71617" y2="72159"/>
                        <a14:foregroundMark x1="67492" y1="78693" x2="51155" y2="87500"/>
                        <a14:foregroundMark x1="48845" y1="71875" x2="45710" y2="66761"/>
                        <a14:foregroundMark x1="53960" y1="56250" x2="57921" y2="50568"/>
                        <a14:foregroundMark x1="71452" y1="76136" x2="68482" y2="83807"/>
                        <a14:foregroundMark x1="40924" y1="69034" x2="48020" y2="73580"/>
                        <a14:foregroundMark x1="72772" y1="84091" x2="74917" y2="82670"/>
                        <a14:foregroundMark x1="42904" y1="55114" x2="42904" y2="58523"/>
                        <a14:foregroundMark x1="76238" y1="28409" x2="76238" y2="31534"/>
                      </a14:backgroundRemoval>
                    </a14:imgEffect>
                  </a14:imgLayer>
                </a14:imgProps>
              </a:ext>
            </a:extLst>
          </a:blip>
          <a:srcRect l="35072" t="17989" r="18813" b="5795"/>
          <a:stretch/>
        </p:blipFill>
        <p:spPr>
          <a:xfrm>
            <a:off x="1576819" y="1613942"/>
            <a:ext cx="2663641" cy="2557119"/>
          </a:xfrm>
          <a:prstGeom prst="rect">
            <a:avLst/>
          </a:prstGeom>
        </p:spPr>
      </p:pic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47468" y="440788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Пластинчатый компрессор</a:t>
            </a:r>
            <a:endParaRPr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5B8D0-8E4B-1AFD-1DA8-29B3AC344696}"/>
              </a:ext>
            </a:extLst>
          </p:cNvPr>
          <p:cNvSpPr txBox="1"/>
          <p:nvPr/>
        </p:nvSpPr>
        <p:spPr>
          <a:xfrm>
            <a:off x="588418" y="1193938"/>
            <a:ext cx="2217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Направление вращения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C6B7CA-2549-05D4-6B1D-F7C9851756B8}"/>
              </a:ext>
            </a:extLst>
          </p:cNvPr>
          <p:cNvSpPr txBox="1"/>
          <p:nvPr/>
        </p:nvSpPr>
        <p:spPr>
          <a:xfrm>
            <a:off x="-31493" y="2072478"/>
            <a:ext cx="1647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n-lt"/>
              </a:rPr>
              <a:t>Пластины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4E414-5E93-6E7F-27B5-53BFED6696F4}"/>
              </a:ext>
            </a:extLst>
          </p:cNvPr>
          <p:cNvSpPr txBox="1"/>
          <p:nvPr/>
        </p:nvSpPr>
        <p:spPr>
          <a:xfrm>
            <a:off x="365931" y="2596899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Ротор</a:t>
            </a:r>
            <a:endParaRPr lang="ru-RU" sz="1800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B2ACB8-975A-7EA9-2DBA-CACD67E447BC}"/>
              </a:ext>
            </a:extLst>
          </p:cNvPr>
          <p:cNvSpPr txBox="1"/>
          <p:nvPr/>
        </p:nvSpPr>
        <p:spPr>
          <a:xfrm>
            <a:off x="170910" y="3872201"/>
            <a:ext cx="1829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Пазы под пластины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C4ECE-C379-B888-AD07-17145AB21C9D}"/>
              </a:ext>
            </a:extLst>
          </p:cNvPr>
          <p:cNvSpPr txBox="1"/>
          <p:nvPr/>
        </p:nvSpPr>
        <p:spPr>
          <a:xfrm>
            <a:off x="317840" y="1572306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Корпус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1E4B76-697B-83DF-153C-36974EC8B30C}"/>
              </a:ext>
            </a:extLst>
          </p:cNvPr>
          <p:cNvSpPr txBox="1"/>
          <p:nvPr/>
        </p:nvSpPr>
        <p:spPr>
          <a:xfrm>
            <a:off x="453442" y="344736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Вал</a:t>
            </a:r>
            <a:endParaRPr lang="ru-RU" sz="1800" dirty="0">
              <a:latin typeface="+mn-lt"/>
            </a:endParaRP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8184AB6-B31B-3229-2DB1-880F7C66F82D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792492" y="2380255"/>
            <a:ext cx="1134268" cy="531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2D93DE11-7D9C-6C4F-0CC4-342B466CAC0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697055" y="1501715"/>
            <a:ext cx="860408" cy="966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0858EEFF-C643-4AD1-4D19-C21800C21CD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17149" y="2904676"/>
            <a:ext cx="1181898" cy="158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86F2560-A99F-524A-26A6-384CFC115B4B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085584" y="3348853"/>
            <a:ext cx="1606987" cy="523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F847168E-B907-3634-45D2-8026DA29CFF7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717149" y="1880083"/>
            <a:ext cx="1031311" cy="573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AF0F89C4-8F09-572E-0CEB-353DDCF867EA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702068" y="2954208"/>
            <a:ext cx="1903020" cy="493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502388" y="1284889"/>
            <a:ext cx="46416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600" dirty="0">
                <a:latin typeface="+mn-lt"/>
              </a:rPr>
              <a:t>Перемещение рабочей среды в корпусе происходит за счет вращения ротора с </a:t>
            </a:r>
            <a:r>
              <a:rPr lang="ru-RU" sz="1600" b="1" dirty="0">
                <a:latin typeface="+mn-lt"/>
              </a:rPr>
              <a:t>подвижными пластинами</a:t>
            </a:r>
            <a:r>
              <a:rPr lang="ru-RU" sz="1600" dirty="0">
                <a:latin typeface="+mn-lt"/>
              </a:rPr>
              <a:t>, причем ось ротора не совпадает с осью корпуса</a:t>
            </a:r>
          </a:p>
          <a:p>
            <a:pPr>
              <a:spcAft>
                <a:spcPts val="1200"/>
              </a:spcAft>
            </a:pPr>
            <a:r>
              <a:rPr lang="ru-RU" sz="1600" dirty="0">
                <a:latin typeface="+mn-lt"/>
              </a:rPr>
              <a:t>Во время работы ротора центробежная сила </a:t>
            </a:r>
            <a:r>
              <a:rPr lang="ru-RU" sz="1600" b="1" dirty="0">
                <a:latin typeface="+mn-lt"/>
              </a:rPr>
              <a:t>отбрасывает пластины от центра и прижимает их к корпусу</a:t>
            </a:r>
          </a:p>
          <a:p>
            <a:pPr>
              <a:spcAft>
                <a:spcPts val="1200"/>
              </a:spcAft>
            </a:pPr>
            <a:r>
              <a:rPr lang="ru-RU" sz="1600" dirty="0">
                <a:latin typeface="+mn-lt"/>
              </a:rPr>
              <a:t>Так в компрессоре создаются подвижные рабочие отсеки, ограниченные корпусом ротора и соседними пластинами, в которых происходит сжатие воздуха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3CFDEEE-6D25-D93C-7EDC-4F0D1F4DB383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CA3788-0721-F6DF-4E20-E68306ABB107}"/>
              </a:ext>
            </a:extLst>
          </p:cNvPr>
          <p:cNvSpPr txBox="1"/>
          <p:nvPr/>
        </p:nvSpPr>
        <p:spPr>
          <a:xfrm>
            <a:off x="756923" y="4600465"/>
            <a:ext cx="6778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Видео: </a:t>
            </a:r>
            <a:r>
              <a:rPr lang="en-US" dirty="0">
                <a:solidFill>
                  <a:schemeClr val="accent1"/>
                </a:solidFill>
                <a:latin typeface="+mn-lt"/>
                <a:hlinkClick r:id="rId5"/>
              </a:rPr>
              <a:t>https://www.youtube.com/watch?v=i8p0QP3dh0A</a:t>
            </a:r>
            <a:r>
              <a:rPr lang="ru-RU" dirty="0">
                <a:solidFill>
                  <a:schemeClr val="accent1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6421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4753A7-60E2-D2C5-4E03-A78E0FC72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4026" y1="39908" x2="55810" y2="42202"/>
                        <a14:foregroundMark x1="49591" y1="41743" x2="55319" y2="43119"/>
                        <a14:foregroundMark x1="61047" y1="52752" x2="60884" y2="66055"/>
                        <a14:foregroundMark x1="35188" y1="32110" x2="41899" y2="32110"/>
                        <a14:foregroundMark x1="56137" y1="32110" x2="60720" y2="32110"/>
                      </a14:backgroundRemoval>
                    </a14:imgEffect>
                  </a14:imgLayer>
                </a14:imgProps>
              </a:ext>
            </a:extLst>
          </a:blip>
          <a:srcRect l="30867" t="28054" r="37596" b="9245"/>
          <a:stretch/>
        </p:blipFill>
        <p:spPr>
          <a:xfrm>
            <a:off x="1123313" y="1974187"/>
            <a:ext cx="2233563" cy="1584397"/>
          </a:xfrm>
          <a:prstGeom prst="rect">
            <a:avLst/>
          </a:prstGeom>
        </p:spPr>
      </p:pic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72332" y="441659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Осевой компрессор</a:t>
            </a:r>
            <a:endParaRPr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5B8D0-8E4B-1AFD-1DA8-29B3AC344696}"/>
              </a:ext>
            </a:extLst>
          </p:cNvPr>
          <p:cNvSpPr txBox="1"/>
          <p:nvPr/>
        </p:nvSpPr>
        <p:spPr>
          <a:xfrm>
            <a:off x="3234350" y="1972330"/>
            <a:ext cx="160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n-lt"/>
              </a:rPr>
              <a:t>Выпрямляющий аппарат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C6B7CA-2549-05D4-6B1D-F7C9851756B8}"/>
              </a:ext>
            </a:extLst>
          </p:cNvPr>
          <p:cNvSpPr txBox="1"/>
          <p:nvPr/>
        </p:nvSpPr>
        <p:spPr>
          <a:xfrm>
            <a:off x="3439182" y="3027117"/>
            <a:ext cx="1128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n-lt"/>
              </a:rPr>
              <a:t>Лопатки ротора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4E414-5E93-6E7F-27B5-53BFED6696F4}"/>
              </a:ext>
            </a:extLst>
          </p:cNvPr>
          <p:cNvSpPr txBox="1"/>
          <p:nvPr/>
        </p:nvSpPr>
        <p:spPr>
          <a:xfrm>
            <a:off x="230038" y="1675019"/>
            <a:ext cx="1745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Входной патрубок</a:t>
            </a:r>
            <a:endParaRPr lang="ru-RU" sz="1800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C4ECE-C379-B888-AD07-17145AB21C9D}"/>
              </a:ext>
            </a:extLst>
          </p:cNvPr>
          <p:cNvSpPr txBox="1"/>
          <p:nvPr/>
        </p:nvSpPr>
        <p:spPr>
          <a:xfrm>
            <a:off x="2044964" y="3857752"/>
            <a:ext cx="931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+mn-lt"/>
              </a:rPr>
              <a:t>Корпус</a:t>
            </a:r>
          </a:p>
          <a:p>
            <a:pPr algn="ctr"/>
            <a:r>
              <a:rPr lang="ru-RU" dirty="0">
                <a:latin typeface="+mn-lt"/>
              </a:rPr>
              <a:t>(статор)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1E4B76-697B-83DF-153C-36974EC8B30C}"/>
              </a:ext>
            </a:extLst>
          </p:cNvPr>
          <p:cNvSpPr txBox="1"/>
          <p:nvPr/>
        </p:nvSpPr>
        <p:spPr>
          <a:xfrm>
            <a:off x="3295772" y="3661935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Ротор</a:t>
            </a:r>
            <a:endParaRPr lang="ru-RU" sz="1800" dirty="0">
              <a:latin typeface="+mn-lt"/>
            </a:endParaRP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8184AB6-B31B-3229-2DB1-880F7C66F82D}"/>
              </a:ext>
            </a:extLst>
          </p:cNvPr>
          <p:cNvCxnSpPr>
            <a:cxnSpLocks/>
            <a:stCxn id="15" idx="0"/>
          </p:cNvCxnSpPr>
          <p:nvPr/>
        </p:nvCxnSpPr>
        <p:spPr>
          <a:xfrm flipH="1">
            <a:off x="3074524" y="3027117"/>
            <a:ext cx="928796" cy="44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2D93DE11-7D9C-6C4F-0CC4-342B466CAC0C}"/>
              </a:ext>
            </a:extLst>
          </p:cNvPr>
          <p:cNvCxnSpPr>
            <a:cxnSpLocks/>
            <a:stCxn id="13" idx="2"/>
          </p:cNvCxnSpPr>
          <p:nvPr/>
        </p:nvCxnSpPr>
        <p:spPr>
          <a:xfrm flipH="1" flipV="1">
            <a:off x="2960726" y="2427340"/>
            <a:ext cx="1077377" cy="68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0858EEFF-C643-4AD1-4D19-C21800C21CD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103034" y="1982796"/>
            <a:ext cx="501341" cy="181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F847168E-B907-3634-45D2-8026DA29CFF7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510797" y="3410361"/>
            <a:ext cx="495978" cy="447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AF0F89C4-8F09-572E-0CEB-353DDCF867EA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2731635" y="2903823"/>
            <a:ext cx="915355" cy="75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820385" y="1134425"/>
            <a:ext cx="43063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Внутри корпуса компрессора на валу установлен ротор. При включении агрегата, поступающий </a:t>
            </a:r>
            <a:r>
              <a:rPr lang="ru-RU" sz="1800" b="1" dirty="0">
                <a:latin typeface="+mn-lt"/>
              </a:rPr>
              <a:t>воздух начинает движение в осевом направлении</a:t>
            </a:r>
            <a:r>
              <a:rPr lang="ru-RU" sz="1800" dirty="0">
                <a:latin typeface="+mn-lt"/>
              </a:rPr>
              <a:t>, проходит через </a:t>
            </a:r>
            <a:r>
              <a:rPr lang="ru-RU" sz="1800" b="1" dirty="0">
                <a:latin typeface="+mn-lt"/>
              </a:rPr>
              <a:t>ряд лопаток и закручивается</a:t>
            </a:r>
          </a:p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Далее газ попадает в зону, где расположены ряды направляющих лопаток, которые выравнивают направление движение газа и выводят его через направляющие аппараты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6340B-428E-47CA-033B-3857B31C00C3}"/>
              </a:ext>
            </a:extLst>
          </p:cNvPr>
          <p:cNvSpPr txBox="1"/>
          <p:nvPr/>
        </p:nvSpPr>
        <p:spPr>
          <a:xfrm>
            <a:off x="2717701" y="1594378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Выходной патрубок</a:t>
            </a:r>
            <a:endParaRPr lang="ru-RU" sz="1800" dirty="0">
              <a:latin typeface="+mn-lt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3153F717-6F47-85E0-F912-52F476994113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089355" y="1902155"/>
            <a:ext cx="561455" cy="261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DFC7544-0324-214A-DB44-7C8CC66F861A}"/>
              </a:ext>
            </a:extLst>
          </p:cNvPr>
          <p:cNvSpPr txBox="1"/>
          <p:nvPr/>
        </p:nvSpPr>
        <p:spPr>
          <a:xfrm>
            <a:off x="158245" y="3604751"/>
            <a:ext cx="160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n-lt"/>
              </a:rPr>
              <a:t>Направляющий аппарат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2DFB0B-B520-4C29-A402-7D6FC4CA6259}"/>
              </a:ext>
            </a:extLst>
          </p:cNvPr>
          <p:cNvSpPr txBox="1"/>
          <p:nvPr/>
        </p:nvSpPr>
        <p:spPr>
          <a:xfrm>
            <a:off x="120143" y="2150902"/>
            <a:ext cx="1128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n-lt"/>
              </a:rPr>
              <a:t>Лопатки статора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C84CF55C-1C47-F7CE-A9E8-9325D5AA5090}"/>
              </a:ext>
            </a:extLst>
          </p:cNvPr>
          <p:cNvCxnSpPr/>
          <p:nvPr/>
        </p:nvCxnSpPr>
        <p:spPr>
          <a:xfrm>
            <a:off x="1251865" y="2346174"/>
            <a:ext cx="588061" cy="66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05CEC77A-81F8-47F8-2588-E8BE661C0ED7}"/>
              </a:ext>
            </a:extLst>
          </p:cNvPr>
          <p:cNvCxnSpPr>
            <a:stCxn id="28" idx="0"/>
          </p:cNvCxnSpPr>
          <p:nvPr/>
        </p:nvCxnSpPr>
        <p:spPr>
          <a:xfrm flipV="1">
            <a:off x="961998" y="3183662"/>
            <a:ext cx="742205" cy="421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0CEF642-9D55-9823-6B1F-F7183795A905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EB8839-7D7B-424E-B278-E9536E3922D1}"/>
              </a:ext>
            </a:extLst>
          </p:cNvPr>
          <p:cNvSpPr txBox="1"/>
          <p:nvPr/>
        </p:nvSpPr>
        <p:spPr>
          <a:xfrm>
            <a:off x="536860" y="4658465"/>
            <a:ext cx="6778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Видео: </a:t>
            </a:r>
            <a:r>
              <a:rPr lang="en-US" dirty="0">
                <a:solidFill>
                  <a:schemeClr val="accent1"/>
                </a:solidFill>
                <a:latin typeface="+mn-lt"/>
                <a:hlinkClick r:id="rId5"/>
              </a:rPr>
              <a:t>https://www.youtube.com/watch?v=y3JE41gpeZ4</a:t>
            </a:r>
            <a:r>
              <a:rPr lang="ru-RU" dirty="0">
                <a:solidFill>
                  <a:schemeClr val="accent1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6948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806AFD-D5FA-1057-1A2F-993CCDA5C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820" y1="30603" x2="30000" y2="44828"/>
                        <a14:foregroundMark x1="65082" y1="46121" x2="65902" y2="60345"/>
                        <a14:backgroundMark x1="15738" y1="25862" x2="14918" y2="38793"/>
                        <a14:backgroundMark x1="15574" y1="64655" x2="13443" y2="64655"/>
                      </a14:backgroundRemoval>
                    </a14:imgEffect>
                  </a14:imgLayer>
                </a14:imgProps>
              </a:ext>
            </a:extLst>
          </a:blip>
          <a:srcRect l="25615" t="18121" r="18308" b="7741"/>
          <a:stretch/>
        </p:blipFill>
        <p:spPr>
          <a:xfrm>
            <a:off x="930650" y="2079707"/>
            <a:ext cx="3258204" cy="1638300"/>
          </a:xfrm>
          <a:prstGeom prst="rect">
            <a:avLst/>
          </a:prstGeom>
        </p:spPr>
      </p:pic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78510" y="42745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Осевой компрессор</a:t>
            </a:r>
            <a:br>
              <a:rPr lang="ru-RU" sz="2800" dirty="0">
                <a:latin typeface="+mj-lt"/>
              </a:rPr>
            </a:br>
            <a:endParaRPr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5B8D0-8E4B-1AFD-1DA8-29B3AC344696}"/>
              </a:ext>
            </a:extLst>
          </p:cNvPr>
          <p:cNvSpPr txBox="1"/>
          <p:nvPr/>
        </p:nvSpPr>
        <p:spPr>
          <a:xfrm>
            <a:off x="1281538" y="3956412"/>
            <a:ext cx="941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n-lt"/>
              </a:rPr>
              <a:t>Колесо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4E414-5E93-6E7F-27B5-53BFED6696F4}"/>
              </a:ext>
            </a:extLst>
          </p:cNvPr>
          <p:cNvSpPr txBox="1"/>
          <p:nvPr/>
        </p:nvSpPr>
        <p:spPr>
          <a:xfrm>
            <a:off x="1241349" y="1670773"/>
            <a:ext cx="2217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Направление вращения</a:t>
            </a:r>
            <a:endParaRPr lang="ru-RU" sz="1800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C4ECE-C379-B888-AD07-17145AB21C9D}"/>
              </a:ext>
            </a:extLst>
          </p:cNvPr>
          <p:cNvSpPr txBox="1"/>
          <p:nvPr/>
        </p:nvSpPr>
        <p:spPr>
          <a:xfrm>
            <a:off x="531341" y="3965937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+mn-lt"/>
              </a:rPr>
              <a:t>Корпус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1E4B76-697B-83DF-153C-36974EC8B30C}"/>
              </a:ext>
            </a:extLst>
          </p:cNvPr>
          <p:cNvSpPr txBox="1"/>
          <p:nvPr/>
        </p:nvSpPr>
        <p:spPr>
          <a:xfrm>
            <a:off x="4152424" y="196047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Вал</a:t>
            </a:r>
            <a:endParaRPr lang="ru-RU" sz="1800" dirty="0">
              <a:latin typeface="+mn-lt"/>
            </a:endParaRP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2D93DE11-7D9C-6C4F-0CC4-342B466CAC0C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1729267" y="3293745"/>
            <a:ext cx="23198" cy="662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0858EEFF-C643-4AD1-4D19-C21800C21CD6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1729267" y="1978550"/>
            <a:ext cx="620719" cy="1124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F847168E-B907-3634-45D2-8026DA29CFF7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930650" y="3518546"/>
            <a:ext cx="495978" cy="447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AF0F89C4-8F09-572E-0CEB-353DDCF867EA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4012884" y="2268251"/>
            <a:ext cx="388166" cy="625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916873" y="1548853"/>
            <a:ext cx="404725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Внутри компрессора находится колесо, установленное на валу. </a:t>
            </a:r>
          </a:p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После начала движения колеса </a:t>
            </a:r>
            <a:r>
              <a:rPr lang="ru-RU" sz="1800" b="1" dirty="0">
                <a:latin typeface="+mn-lt"/>
              </a:rPr>
              <a:t>лопатки перемещают газ от оси в радиальных направлениях</a:t>
            </a:r>
            <a:r>
              <a:rPr lang="ru-RU" sz="1800" dirty="0">
                <a:latin typeface="+mn-lt"/>
              </a:rPr>
              <a:t>. Рабочей среде передается кинетическая энергия, которая частично преобразуется в потенциальную энергию давления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6340B-428E-47CA-033B-3857B31C00C3}"/>
              </a:ext>
            </a:extLst>
          </p:cNvPr>
          <p:cNvSpPr txBox="1"/>
          <p:nvPr/>
        </p:nvSpPr>
        <p:spPr>
          <a:xfrm>
            <a:off x="291635" y="1333208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Выходной патрубок</a:t>
            </a:r>
            <a:endParaRPr lang="ru-RU" sz="1800" dirty="0">
              <a:latin typeface="+mn-lt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3153F717-6F47-85E0-F912-52F47699411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224744" y="1640985"/>
            <a:ext cx="0" cy="627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DFC7544-0324-214A-DB44-7C8CC66F861A}"/>
              </a:ext>
            </a:extLst>
          </p:cNvPr>
          <p:cNvSpPr txBox="1"/>
          <p:nvPr/>
        </p:nvSpPr>
        <p:spPr>
          <a:xfrm>
            <a:off x="2055104" y="3841301"/>
            <a:ext cx="160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n-lt"/>
              </a:rPr>
              <a:t>Выходной патрубок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2DFB0B-B520-4C29-A402-7D6FC4CA6259}"/>
              </a:ext>
            </a:extLst>
          </p:cNvPr>
          <p:cNvSpPr txBox="1"/>
          <p:nvPr/>
        </p:nvSpPr>
        <p:spPr>
          <a:xfrm>
            <a:off x="3225731" y="3858215"/>
            <a:ext cx="1128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n-lt"/>
              </a:rPr>
              <a:t>Лопатки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C84CF55C-1C47-F7CE-A9E8-9325D5AA5090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3588287" y="3292787"/>
            <a:ext cx="201582" cy="565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05CEC77A-81F8-47F8-2588-E8BE661C0ED7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2858857" y="3036570"/>
            <a:ext cx="415838" cy="804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2607CAA-2FAD-7707-474F-A50B02E55E5C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76919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913220" y="422289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Устройства очистки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786531" y="1285146"/>
            <a:ext cx="50189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Для очистки воздуха от механических включений применяют </a:t>
            </a:r>
            <a:r>
              <a:rPr lang="ru-RU" sz="1800" b="1" dirty="0">
                <a:latin typeface="+mn-lt"/>
              </a:rPr>
              <a:t>фильтры</a:t>
            </a:r>
            <a:r>
              <a:rPr lang="ru-RU" sz="1800" dirty="0">
                <a:latin typeface="+mn-lt"/>
              </a:rPr>
              <a:t>. Материалы – бумага, фетр, поролон, целлюлозная вата, пористая керамика</a:t>
            </a:r>
          </a:p>
          <a:p>
            <a:endParaRPr lang="ru-R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Для отчистки от масла используют </a:t>
            </a:r>
            <a:r>
              <a:rPr lang="ru-RU" sz="1800" b="1" dirty="0">
                <a:latin typeface="+mn-lt"/>
              </a:rPr>
              <a:t>маслоотделители</a:t>
            </a:r>
            <a:r>
              <a:rPr lang="ru-RU" sz="1800" dirty="0">
                <a:latin typeface="+mn-lt"/>
              </a:rPr>
              <a:t> или </a:t>
            </a:r>
            <a:r>
              <a:rPr lang="ru-RU" sz="1800" b="1" dirty="0" err="1">
                <a:latin typeface="+mn-lt"/>
              </a:rPr>
              <a:t>коалесцентные</a:t>
            </a:r>
            <a:r>
              <a:rPr lang="ru-RU" sz="1800" b="1" dirty="0">
                <a:latin typeface="+mn-lt"/>
              </a:rPr>
              <a:t> фильтры</a:t>
            </a:r>
          </a:p>
          <a:p>
            <a:endParaRPr lang="ru-R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Для очистки от капельной влаги используются </a:t>
            </a:r>
            <a:r>
              <a:rPr lang="ru-RU" sz="1800" b="1" dirty="0">
                <a:latin typeface="+mn-lt"/>
              </a:rPr>
              <a:t>фильтры-</a:t>
            </a:r>
            <a:r>
              <a:rPr lang="ru-RU" sz="1800" b="1" dirty="0" err="1">
                <a:latin typeface="+mn-lt"/>
              </a:rPr>
              <a:t>влагоотделители</a:t>
            </a:r>
            <a:endParaRPr lang="ru-RU" sz="1800" b="1" dirty="0">
              <a:latin typeface="+mn-lt"/>
            </a:endParaRPr>
          </a:p>
          <a:p>
            <a:endParaRPr lang="ru-RU" sz="1800" dirty="0">
              <a:latin typeface="+mn-lt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252185B-0770-AB7E-E455-BE98D07C9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238" y="1013966"/>
            <a:ext cx="1275185" cy="177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BDDC1AA-8BE0-B03C-831A-E054AEE2D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467" y="2875178"/>
            <a:ext cx="1814166" cy="155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236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Ресивер</a:t>
            </a:r>
            <a:r>
              <a:rPr lang="en-US" sz="2800" dirty="0">
                <a:latin typeface="+mj-lt"/>
              </a:rPr>
              <a:t>/</a:t>
            </a:r>
            <a:r>
              <a:rPr lang="ru-RU" sz="2800" dirty="0" err="1">
                <a:latin typeface="+mj-lt"/>
              </a:rPr>
              <a:t>Пневмоаккумулятор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715100" y="1888656"/>
            <a:ext cx="5018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+mn-lt"/>
              </a:rPr>
              <a:t>Ресивер</a:t>
            </a:r>
            <a:r>
              <a:rPr lang="ru-RU" sz="1800" dirty="0">
                <a:latin typeface="+mn-lt"/>
              </a:rPr>
              <a:t> – это емкость, которая наполнена сжатым воздухом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С их помощью уменьшается пульсация в магистрали при одновременном подключении нескольких устройств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9C80C739-B9C5-167A-3E91-25E07B4C0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558" y="1600200"/>
            <a:ext cx="1914525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9BAE904F-BE5E-D43A-C384-875AC165A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558" y="2875178"/>
            <a:ext cx="211455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774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050" y="337461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Вариант схемы подготовки воздуха</a:t>
            </a:r>
            <a:endParaRPr sz="2800" dirty="0">
              <a:latin typeface="+mj-lt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98348B4-EEF7-1A46-53EF-C47A0CE22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664" y="1007734"/>
            <a:ext cx="6712672" cy="379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999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Вариант схемы подготовки воздуха</a:t>
            </a:r>
            <a:endParaRPr sz="2800" dirty="0">
              <a:latin typeface="+mj-lt"/>
            </a:endParaRPr>
          </a:p>
        </p:txBody>
      </p:sp>
      <p:pic>
        <p:nvPicPr>
          <p:cNvPr id="14344" name="Picture 8">
            <a:extLst>
              <a:ext uri="{FF2B5EF4-FFF2-40B4-BE49-F238E27FC236}">
                <a16:creationId xmlns:a16="http://schemas.microsoft.com/office/drawing/2014/main" id="{BA4A9EB1-1948-395B-4F07-65D4E83C8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24" y="1654486"/>
            <a:ext cx="6600864" cy="220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630D7A-D6F6-6448-1F56-9881723B3B9C}"/>
              </a:ext>
            </a:extLst>
          </p:cNvPr>
          <p:cNvSpPr txBox="1"/>
          <p:nvPr/>
        </p:nvSpPr>
        <p:spPr>
          <a:xfrm>
            <a:off x="715100" y="2823751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Фильтр</a:t>
            </a:r>
            <a:endParaRPr lang="ru-RU" sz="18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1C0AE-F0E0-A953-BC41-AC7F68E3E0EF}"/>
              </a:ext>
            </a:extLst>
          </p:cNvPr>
          <p:cNvSpPr txBox="1"/>
          <p:nvPr/>
        </p:nvSpPr>
        <p:spPr>
          <a:xfrm>
            <a:off x="1196420" y="1931480"/>
            <a:ext cx="1242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Компрессор</a:t>
            </a:r>
            <a:endParaRPr lang="ru-RU" sz="18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9C70C-0FEE-C750-D2F8-7B38668E7F25}"/>
              </a:ext>
            </a:extLst>
          </p:cNvPr>
          <p:cNvSpPr txBox="1"/>
          <p:nvPr/>
        </p:nvSpPr>
        <p:spPr>
          <a:xfrm>
            <a:off x="1939782" y="2829622"/>
            <a:ext cx="1215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Охладитель</a:t>
            </a:r>
            <a:endParaRPr lang="ru-RU" sz="18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AC24F-B0F1-296C-C9A2-97C5C7D7A9D9}"/>
              </a:ext>
            </a:extLst>
          </p:cNvPr>
          <p:cNvSpPr txBox="1"/>
          <p:nvPr/>
        </p:nvSpPr>
        <p:spPr>
          <a:xfrm>
            <a:off x="2352885" y="1931480"/>
            <a:ext cx="1694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Влагоотделитель</a:t>
            </a:r>
            <a:endParaRPr lang="ru-RU" sz="18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883C8-9DAC-CBC2-C7DC-9588D383042D}"/>
              </a:ext>
            </a:extLst>
          </p:cNvPr>
          <p:cNvSpPr txBox="1"/>
          <p:nvPr/>
        </p:nvSpPr>
        <p:spPr>
          <a:xfrm>
            <a:off x="3703894" y="1639095"/>
            <a:ext cx="906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Ресивер</a:t>
            </a:r>
            <a:endParaRPr lang="ru-RU" sz="18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FF2130-30B4-2435-23A6-9333DF107A14}"/>
              </a:ext>
            </a:extLst>
          </p:cNvPr>
          <p:cNvSpPr txBox="1"/>
          <p:nvPr/>
        </p:nvSpPr>
        <p:spPr>
          <a:xfrm>
            <a:off x="3470289" y="3719460"/>
            <a:ext cx="1478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Редукционный </a:t>
            </a:r>
          </a:p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клапан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D6920-A023-69FF-8ABB-29401F1ED714}"/>
              </a:ext>
            </a:extLst>
          </p:cNvPr>
          <p:cNvSpPr txBox="1"/>
          <p:nvPr/>
        </p:nvSpPr>
        <p:spPr>
          <a:xfrm>
            <a:off x="5288710" y="3521277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Нагреватель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67A35-0D4D-8F46-CBCF-0C9B0C8C3A3F}"/>
              </a:ext>
            </a:extLst>
          </p:cNvPr>
          <p:cNvSpPr txBox="1"/>
          <p:nvPr/>
        </p:nvSpPr>
        <p:spPr>
          <a:xfrm>
            <a:off x="5390090" y="1485206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Осушитель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6BF5C-1BDF-5461-D5BC-84453C5623A5}"/>
              </a:ext>
            </a:extLst>
          </p:cNvPr>
          <p:cNvSpPr txBox="1"/>
          <p:nvPr/>
        </p:nvSpPr>
        <p:spPr>
          <a:xfrm>
            <a:off x="5791719" y="1872300"/>
            <a:ext cx="1694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Влагоотделитель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автоматический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C0184-2C4F-7C59-2F7F-864E0AD67BDF}"/>
              </a:ext>
            </a:extLst>
          </p:cNvPr>
          <p:cNvSpPr txBox="1"/>
          <p:nvPr/>
        </p:nvSpPr>
        <p:spPr>
          <a:xfrm>
            <a:off x="7210289" y="1671185"/>
            <a:ext cx="1620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Потребитель №1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30E3F8-09C9-CA66-541A-8334742B76EA}"/>
              </a:ext>
            </a:extLst>
          </p:cNvPr>
          <p:cNvSpPr txBox="1"/>
          <p:nvPr/>
        </p:nvSpPr>
        <p:spPr>
          <a:xfrm>
            <a:off x="7201011" y="2384112"/>
            <a:ext cx="1653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Потребитель №2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4DB54C-19F5-7FCB-EB3A-92BCB09408B7}"/>
              </a:ext>
            </a:extLst>
          </p:cNvPr>
          <p:cNvSpPr txBox="1"/>
          <p:nvPr/>
        </p:nvSpPr>
        <p:spPr>
          <a:xfrm>
            <a:off x="7204218" y="3113739"/>
            <a:ext cx="1649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Потребитель №3</a:t>
            </a:r>
          </a:p>
        </p:txBody>
      </p:sp>
    </p:spTree>
    <p:extLst>
      <p:ext uri="{BB962C8B-B14F-4D97-AF65-F5344CB8AC3E}">
        <p14:creationId xmlns:p14="http://schemas.microsoft.com/office/powerpoint/2010/main" val="2808064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07720" y="40033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err="1">
                <a:latin typeface="+mj-lt"/>
              </a:rPr>
              <a:t>Пневмоцилиндры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807720" y="1192561"/>
            <a:ext cx="3870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Предназначены для преобразования энергии сжатого воздуха в </a:t>
            </a:r>
            <a:r>
              <a:rPr lang="ru-RU" sz="1800" b="1" dirty="0">
                <a:latin typeface="+mn-lt"/>
              </a:rPr>
              <a:t>механическое линейное перемещение</a:t>
            </a:r>
            <a:endParaRPr lang="ru-RU" sz="1800" dirty="0">
              <a:latin typeface="+mn-lt"/>
            </a:endParaRPr>
          </a:p>
        </p:txBody>
      </p:sp>
      <p:pic>
        <p:nvPicPr>
          <p:cNvPr id="2" name="Picture 6" descr="ÐÐ°ÑÑÐ¸Ð½ÐºÐ¸ Ð¿Ð¾ Ð·Ð°Ð¿ÑÐ¾ÑÑ Ð¿Ð½ÐµÐ²Ð¼Ð¾ÑÐ¸Ð»Ð¸Ð½Ð´Ñ   ÑÐµÑÑÐ¾">
            <a:extLst>
              <a:ext uri="{FF2B5EF4-FFF2-40B4-BE49-F238E27FC236}">
                <a16:creationId xmlns:a16="http://schemas.microsoft.com/office/drawing/2014/main" id="{A35BD43D-4E4A-14D6-BF95-FDF86FE70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33" b="95667" l="1111" r="96000">
                        <a14:foregroundMark x1="32000" y1="88333" x2="38222" y2="88333"/>
                        <a14:foregroundMark x1="33556" y1="91667" x2="30889" y2="95667"/>
                        <a14:foregroundMark x1="91333" y1="3000" x2="70667" y2="26667"/>
                        <a14:foregroundMark x1="84222" y1="18000" x2="78889" y2="24000"/>
                        <a14:foregroundMark x1="80222" y1="11333" x2="76667" y2="13000"/>
                        <a14:foregroundMark x1="96444" y1="4333" x2="96444" y2="7000"/>
                        <a14:foregroundMark x1="78222" y1="25667" x2="79111" y2="25000"/>
                        <a14:foregroundMark x1="81111" y1="10333" x2="82000" y2="10333"/>
                        <a14:foregroundMark x1="80222" y1="10333" x2="81778" y2="10000"/>
                        <a14:foregroundMark x1="81778" y1="9667" x2="83333" y2="9667"/>
                        <a14:foregroundMark x1="79333" y1="9333" x2="82000" y2="9333"/>
                        <a14:foregroundMark x1="53333" y1="37000" x2="55333" y2="35000"/>
                        <a14:foregroundMark x1="53333" y1="35000" x2="51333" y2="37333"/>
                        <a14:foregroundMark x1="51333" y1="36000" x2="53333" y2="34333"/>
                        <a14:foregroundMark x1="52889" y1="34000" x2="50222" y2="36333"/>
                        <a14:foregroundMark x1="73333" y1="13667" x2="76444" y2="11333"/>
                        <a14:foregroundMark x1="76444" y1="12000" x2="78667" y2="10000"/>
                        <a14:foregroundMark x1="76667" y1="12667" x2="79111" y2="10000"/>
                        <a14:foregroundMark x1="1333" y1="34000" x2="6444" y2="41000"/>
                        <a14:foregroundMark x1="7333" y1="48000" x2="10222" y2="44000"/>
                        <a14:foregroundMark x1="9111" y1="45000" x2="14000" y2="42000"/>
                        <a14:foregroundMark x1="12667" y1="43667" x2="18000" y2="37667"/>
                        <a14:foregroundMark x1="16667" y1="39333" x2="46222" y2="14667"/>
                        <a14:foregroundMark x1="6667" y1="49667" x2="13778" y2="43333"/>
                        <a14:foregroundMark x1="12000" y1="45000" x2="43111" y2="17000"/>
                        <a14:foregroundMark x1="21333" y1="36333" x2="47111" y2="14667"/>
                        <a14:foregroundMark x1="46889" y1="14000" x2="41333" y2="2333"/>
                        <a14:foregroundMark x1="47556" y1="8333" x2="47111" y2="12333"/>
                        <a14:foregroundMark x1="48000" y1="9667" x2="47778" y2="14333"/>
                        <a14:foregroundMark x1="48444" y1="10667" x2="47556" y2="4000"/>
                        <a14:foregroundMark x1="73111" y1="19667" x2="70889" y2="23000"/>
                        <a14:foregroundMark x1="75111" y1="17667" x2="72667" y2="20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662" y="2858030"/>
            <a:ext cx="3185314" cy="2123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>
            <a:extLst>
              <a:ext uri="{FF2B5EF4-FFF2-40B4-BE49-F238E27FC236}">
                <a16:creationId xmlns:a16="http://schemas.microsoft.com/office/drawing/2014/main" id="{CFAAC0AA-7134-B691-F02D-D19620628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661" y="636242"/>
            <a:ext cx="1679819" cy="403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F23DCB-F5AF-8B37-EBAA-3D41D1E64432}"/>
              </a:ext>
            </a:extLst>
          </p:cNvPr>
          <p:cNvSpPr txBox="1"/>
          <p:nvPr/>
        </p:nvSpPr>
        <p:spPr>
          <a:xfrm>
            <a:off x="4563857" y="733180"/>
            <a:ext cx="2821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n-lt"/>
              </a:rPr>
              <a:t>Цилиндр одностороннего действия</a:t>
            </a:r>
            <a:endParaRPr lang="ru-RU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A6E73-AAC4-7C40-D54B-D718533A147B}"/>
              </a:ext>
            </a:extLst>
          </p:cNvPr>
          <p:cNvSpPr txBox="1"/>
          <p:nvPr/>
        </p:nvSpPr>
        <p:spPr>
          <a:xfrm>
            <a:off x="4563857" y="1303706"/>
            <a:ext cx="2710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n-lt"/>
              </a:rPr>
              <a:t>Цилиндр двустороннего действия</a:t>
            </a:r>
            <a:endParaRPr lang="ru-RU" sz="16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AD747-D055-9275-45A3-229EBBEFB264}"/>
              </a:ext>
            </a:extLst>
          </p:cNvPr>
          <p:cNvSpPr txBox="1"/>
          <p:nvPr/>
        </p:nvSpPr>
        <p:spPr>
          <a:xfrm>
            <a:off x="4563856" y="1943482"/>
            <a:ext cx="2710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n-lt"/>
              </a:rPr>
              <a:t>Цилиндр двустороннего действия</a:t>
            </a:r>
          </a:p>
          <a:p>
            <a:r>
              <a:rPr lang="ru-RU" sz="1200" dirty="0">
                <a:latin typeface="+mn-lt"/>
              </a:rPr>
              <a:t>с проходным штоком</a:t>
            </a:r>
            <a:endParaRPr lang="ru-RU" sz="16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64695-B377-0FC6-C41D-457807CD0E2D}"/>
              </a:ext>
            </a:extLst>
          </p:cNvPr>
          <p:cNvSpPr txBox="1"/>
          <p:nvPr/>
        </p:nvSpPr>
        <p:spPr>
          <a:xfrm>
            <a:off x="4563855" y="2767924"/>
            <a:ext cx="3009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n-lt"/>
              </a:rPr>
              <a:t>Цилиндр двустороннего действия с</a:t>
            </a:r>
          </a:p>
          <a:p>
            <a:r>
              <a:rPr lang="ru-RU" sz="1200" dirty="0">
                <a:latin typeface="+mn-lt"/>
              </a:rPr>
              <a:t>простым </a:t>
            </a:r>
            <a:r>
              <a:rPr lang="ru-RU" sz="1200" dirty="0" err="1">
                <a:latin typeface="+mn-lt"/>
              </a:rPr>
              <a:t>нерегулир</a:t>
            </a:r>
            <a:r>
              <a:rPr lang="ru-RU" sz="1200" dirty="0">
                <a:latin typeface="+mn-lt"/>
              </a:rPr>
              <a:t>. демпфированием</a:t>
            </a:r>
            <a:endParaRPr lang="ru-RU" sz="16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8BCB8-7785-9D22-AB67-41414DC84EAB}"/>
              </a:ext>
            </a:extLst>
          </p:cNvPr>
          <p:cNvSpPr txBox="1"/>
          <p:nvPr/>
        </p:nvSpPr>
        <p:spPr>
          <a:xfrm>
            <a:off x="4563854" y="3338450"/>
            <a:ext cx="2828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n-lt"/>
              </a:rPr>
              <a:t>Цилиндр двустороннего действия с</a:t>
            </a:r>
          </a:p>
          <a:p>
            <a:r>
              <a:rPr lang="ru-RU" sz="1200" dirty="0">
                <a:latin typeface="+mn-lt"/>
              </a:rPr>
              <a:t>простым </a:t>
            </a:r>
            <a:r>
              <a:rPr lang="ru-RU" sz="1200" dirty="0" err="1">
                <a:latin typeface="+mn-lt"/>
              </a:rPr>
              <a:t>регулир</a:t>
            </a:r>
            <a:r>
              <a:rPr lang="ru-RU" sz="1200" dirty="0">
                <a:latin typeface="+mn-lt"/>
              </a:rPr>
              <a:t>. демпфированием</a:t>
            </a:r>
            <a:endParaRPr lang="ru-RU" sz="16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C0E0A-8D0A-F6D2-F1AA-4AA249E39290}"/>
              </a:ext>
            </a:extLst>
          </p:cNvPr>
          <p:cNvSpPr txBox="1"/>
          <p:nvPr/>
        </p:nvSpPr>
        <p:spPr>
          <a:xfrm>
            <a:off x="4563854" y="3908976"/>
            <a:ext cx="2826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n-lt"/>
              </a:rPr>
              <a:t>Цилиндр двустороннего действия с</a:t>
            </a:r>
          </a:p>
          <a:p>
            <a:r>
              <a:rPr lang="ru-RU" sz="1200" dirty="0">
                <a:latin typeface="+mn-lt"/>
              </a:rPr>
              <a:t>простым двусторонним </a:t>
            </a:r>
          </a:p>
          <a:p>
            <a:r>
              <a:rPr lang="ru-RU" sz="1200" dirty="0" err="1">
                <a:latin typeface="+mn-lt"/>
              </a:rPr>
              <a:t>регулир</a:t>
            </a:r>
            <a:r>
              <a:rPr lang="ru-RU" sz="1200" dirty="0">
                <a:latin typeface="+mn-lt"/>
              </a:rPr>
              <a:t>. демпфированием</a:t>
            </a:r>
            <a:endParaRPr lang="ru-RU" sz="16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741A2E-D80E-7CC2-EA33-9D1131FCB9C5}"/>
              </a:ext>
            </a:extLst>
          </p:cNvPr>
          <p:cNvSpPr txBox="1"/>
          <p:nvPr/>
        </p:nvSpPr>
        <p:spPr>
          <a:xfrm>
            <a:off x="3736926" y="4727821"/>
            <a:ext cx="5056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Видео: </a:t>
            </a:r>
            <a:r>
              <a:rPr lang="en-US" dirty="0">
                <a:solidFill>
                  <a:schemeClr val="accent1"/>
                </a:solidFill>
                <a:latin typeface="+mn-lt"/>
                <a:hlinkClick r:id="rId6"/>
              </a:rPr>
              <a:t>https://www.youtube.com/watch?v=cNTpfWVuqlI</a:t>
            </a:r>
            <a:r>
              <a:rPr lang="ru-RU" dirty="0">
                <a:solidFill>
                  <a:schemeClr val="accent1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7565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Распределитель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715100" y="1179996"/>
            <a:ext cx="43804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Предназначены для </a:t>
            </a:r>
            <a:r>
              <a:rPr lang="ru-RU" sz="1800" b="1" dirty="0">
                <a:latin typeface="+mn-lt"/>
              </a:rPr>
              <a:t>управления потоками подводимого воздуха </a:t>
            </a:r>
            <a:r>
              <a:rPr lang="ru-RU" sz="1800" dirty="0">
                <a:latin typeface="+mn-lt"/>
              </a:rPr>
              <a:t>путем соединения внутренних каналов распределителя с входными и выходными присоединительными отверстиями</a:t>
            </a:r>
          </a:p>
        </p:txBody>
      </p:sp>
      <p:pic>
        <p:nvPicPr>
          <p:cNvPr id="9" name="Picture 2" descr="ÐÐ°ÑÑÐ¸Ð½ÐºÐ¸ Ð¿Ð¾ Ð·Ð°Ð¿ÑÐ¾ÑÑ Ð ÐÐ¡ÐÐ ÐÐÐÐÐÐ¢ÐÐÐ¬ Ð¤ÐÐ¡Ð¢Ð">
            <a:extLst>
              <a:ext uri="{FF2B5EF4-FFF2-40B4-BE49-F238E27FC236}">
                <a16:creationId xmlns:a16="http://schemas.microsoft.com/office/drawing/2014/main" id="{D5C04A02-FD6C-03BB-45C6-DDF0B012C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18" b="92483" l="5775" r="96620">
                        <a14:foregroundMark x1="9296" y1="40909" x2="8732" y2="23252"/>
                        <a14:foregroundMark x1="8732" y1="11189" x2="8451" y2="8042"/>
                        <a14:foregroundMark x1="7887" y1="10140" x2="6338" y2="13287"/>
                        <a14:foregroundMark x1="18169" y1="7517" x2="33380" y2="21154"/>
                        <a14:foregroundMark x1="28873" y1="13636" x2="35070" y2="17483"/>
                        <a14:foregroundMark x1="22394" y1="9965" x2="27465" y2="13811"/>
                        <a14:foregroundMark x1="19577" y1="8392" x2="30000" y2="16434"/>
                        <a14:foregroundMark x1="15634" y1="31993" x2="18310" y2="43706"/>
                        <a14:foregroundMark x1="36056" y1="27448" x2="47887" y2="35315"/>
                        <a14:foregroundMark x1="44789" y1="28322" x2="54507" y2="35839"/>
                        <a14:foregroundMark x1="74225" y1="69056" x2="77887" y2="87238"/>
                        <a14:foregroundMark x1="86901" y1="70455" x2="87183" y2="89336"/>
                        <a14:foregroundMark x1="81408" y1="92483" x2="85634" y2="92483"/>
                        <a14:foregroundMark x1="90704" y1="89860" x2="91408" y2="86713"/>
                        <a14:foregroundMark x1="96620" y1="62063" x2="95775" y2="64685"/>
                        <a14:foregroundMark x1="67606" y1="45280" x2="52113" y2="36888"/>
                        <a14:foregroundMark x1="67183" y1="41084" x2="71972" y2="45280"/>
                        <a14:foregroundMark x1="78028" y1="47378" x2="81268" y2="49650"/>
                        <a14:foregroundMark x1="79296" y1="47028" x2="74085" y2="44056"/>
                        <a14:foregroundMark x1="70845" y1="42657" x2="60000" y2="36888"/>
                        <a14:foregroundMark x1="35211" y1="21154" x2="28732" y2="12587"/>
                        <a14:foregroundMark x1="32535" y1="14336" x2="35493" y2="16958"/>
                        <a14:foregroundMark x1="32113" y1="14685" x2="30000" y2="12238"/>
                        <a14:foregroundMark x1="66761" y1="40385" x2="74225" y2="41608"/>
                        <a14:foregroundMark x1="70704" y1="38462" x2="71549" y2="38462"/>
                        <a14:foregroundMark x1="70704" y1="38986" x2="70704" y2="38986"/>
                        <a14:foregroundMark x1="68592" y1="37937" x2="68592" y2="37937"/>
                        <a14:foregroundMark x1="68592" y1="37937" x2="68873" y2="38811"/>
                        <a14:foregroundMark x1="71972" y1="38986" x2="73239" y2="40559"/>
                        <a14:foregroundMark x1="73662" y1="40909" x2="73662" y2="40909"/>
                        <a14:foregroundMark x1="79296" y1="44755" x2="79296" y2="44755"/>
                        <a14:foregroundMark x1="79155" y1="45280" x2="79155" y2="45280"/>
                        <a14:foregroundMark x1="79718" y1="45105" x2="81690" y2="45280"/>
                        <a14:foregroundMark x1="82113" y1="45280" x2="82113" y2="45280"/>
                        <a14:foregroundMark x1="82254" y1="45804" x2="82254" y2="45804"/>
                        <a14:foregroundMark x1="82958" y1="46853" x2="82958" y2="47552"/>
                        <a14:foregroundMark x1="83380" y1="48427" x2="83803" y2="49650"/>
                        <a14:foregroundMark x1="83944" y1="49650" x2="84789" y2="51573"/>
                        <a14:foregroundMark x1="85211" y1="51748" x2="85493" y2="53147"/>
                        <a14:foregroundMark x1="86056" y1="53322" x2="86056" y2="54371"/>
                        <a14:foregroundMark x1="86479" y1="54895" x2="86761" y2="55944"/>
                        <a14:foregroundMark x1="86901" y1="55944" x2="87183" y2="56818"/>
                        <a14:foregroundMark x1="87324" y1="52273" x2="87324" y2="52273"/>
                        <a14:foregroundMark x1="86338" y1="52098" x2="86338" y2="52098"/>
                        <a14:foregroundMark x1="80563" y1="46853" x2="80000" y2="46503"/>
                        <a14:foregroundMark x1="78873" y1="45804" x2="78873" y2="45804"/>
                        <a14:foregroundMark x1="77887" y1="45804" x2="77183" y2="45804"/>
                        <a14:foregroundMark x1="77042" y1="45629" x2="76338" y2="45280"/>
                        <a14:foregroundMark x1="75915" y1="45105" x2="75915" y2="45105"/>
                        <a14:foregroundMark x1="75915" y1="45105" x2="75915" y2="45105"/>
                        <a14:foregroundMark x1="75493" y1="45105" x2="75493" y2="45105"/>
                        <a14:foregroundMark x1="78028" y1="45280" x2="79155" y2="45280"/>
                        <a14:foregroundMark x1="79718" y1="45280" x2="79718" y2="45280"/>
                        <a14:foregroundMark x1="81268" y1="45979" x2="81831" y2="47028"/>
                        <a14:foregroundMark x1="82254" y1="47902" x2="83099" y2="48951"/>
                        <a14:foregroundMark x1="83944" y1="49650" x2="84366" y2="50524"/>
                        <a14:foregroundMark x1="85211" y1="51224" x2="85634" y2="52273"/>
                        <a14:foregroundMark x1="86479" y1="52622" x2="86901" y2="54196"/>
                        <a14:foregroundMark x1="25775" y1="13112" x2="25775" y2="13112"/>
                        <a14:foregroundMark x1="25352" y1="11713" x2="24507" y2="11014"/>
                        <a14:foregroundMark x1="24085" y1="10490" x2="24085" y2="10490"/>
                        <a14:foregroundMark x1="23239" y1="9441" x2="23239" y2="9441"/>
                        <a14:foregroundMark x1="21268" y1="8392" x2="21268" y2="8392"/>
                        <a14:foregroundMark x1="19859" y1="7867" x2="19859" y2="7867"/>
                        <a14:foregroundMark x1="17887" y1="7517" x2="17887" y2="7517"/>
                        <a14:foregroundMark x1="14930" y1="7517" x2="14930" y2="7517"/>
                        <a14:foregroundMark x1="15211" y1="7517" x2="17324" y2="8042"/>
                        <a14:foregroundMark x1="20000" y1="8042" x2="20000" y2="8042"/>
                        <a14:foregroundMark x1="19437" y1="6818" x2="18592" y2="6818"/>
                        <a14:foregroundMark x1="16620" y1="6818" x2="91972" y2="56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872" y="216733"/>
            <a:ext cx="3009158" cy="242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ÐÐ°ÑÑÐ¸Ð½ÐºÐ¸ Ð¿Ð¾ Ð·Ð°Ð¿ÑÐ¾ÑÑ Ð ÐÐ¡ÐÐ ÐÐÐÐÐÐ¢ÐÐÐ¬ Ð¤ÐÐ¡Ð¢Ð">
            <a:extLst>
              <a:ext uri="{FF2B5EF4-FFF2-40B4-BE49-F238E27FC236}">
                <a16:creationId xmlns:a16="http://schemas.microsoft.com/office/drawing/2014/main" id="{5336167D-D367-48A8-A3A0-F11C726CF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626" b="95186" l="2851" r="96272">
                        <a14:foregroundMark x1="2851" y1="15755" x2="4167" y2="33479"/>
                        <a14:foregroundMark x1="11404" y1="7877" x2="15570" y2="6346"/>
                        <a14:foregroundMark x1="14035" y1="4814" x2="75439" y2="35011"/>
                        <a14:foregroundMark x1="68421" y1="24508" x2="68421" y2="24508"/>
                        <a14:foregroundMark x1="35526" y1="18818" x2="46491" y2="26039"/>
                        <a14:foregroundMark x1="37500" y1="12473" x2="37500" y2="12473"/>
                        <a14:foregroundMark x1="32018" y1="11160" x2="32018" y2="11160"/>
                        <a14:foregroundMark x1="27851" y1="8534" x2="27851" y2="8534"/>
                        <a14:foregroundMark x1="92727" y1="74998" x2="93640" y2="77243"/>
                        <a14:foregroundMark x1="78070" y1="38950" x2="92649" y2="74805"/>
                        <a14:foregroundMark x1="93640" y1="77243" x2="93640" y2="84081"/>
                        <a14:foregroundMark x1="65570" y1="90372" x2="65570" y2="90372"/>
                        <a14:foregroundMark x1="64693" y1="90372" x2="67763" y2="95186"/>
                        <a14:foregroundMark x1="94737" y1="51204" x2="80921" y2="36761"/>
                        <a14:foregroundMark x1="82456" y1="37199" x2="95614" y2="57768"/>
                        <a14:foregroundMark x1="95948" y1="73305" x2="96198" y2="84947"/>
                        <a14:foregroundMark x1="95614" y1="57768" x2="95845" y2="68505"/>
                        <a14:foregroundMark x1="93860" y1="44420" x2="83333" y2="38950"/>
                        <a14:foregroundMark x1="94956" y1="43982" x2="89035" y2="40700"/>
                        <a14:foregroundMark x1="94956" y1="43107" x2="94956" y2="43107"/>
                        <a14:foregroundMark x1="89912" y1="40919" x2="89912" y2="40919"/>
                        <a14:foregroundMark x1="87500" y1="40044" x2="87500" y2="40044"/>
                        <a14:foregroundMark x1="86623" y1="39825" x2="86623" y2="39825"/>
                        <a14:foregroundMark x1="85088" y1="38731" x2="85088" y2="38731"/>
                        <a14:foregroundMark x1="83772" y1="38074" x2="83772" y2="38074"/>
                        <a14:foregroundMark x1="82675" y1="37199" x2="82675" y2="37199"/>
                        <a14:foregroundMark x1="35965" y1="12254" x2="35965" y2="12254"/>
                        <a14:foregroundMark x1="31579" y1="10722" x2="31579" y2="10722"/>
                        <a14:foregroundMark x1="28509" y1="9190" x2="28509" y2="9190"/>
                        <a14:foregroundMark x1="23904" y1="6346" x2="23904" y2="6346"/>
                        <a14:foregroundMark x1="19518" y1="4595" x2="19518" y2="4595"/>
                        <a14:foregroundMark x1="14254" y1="4595" x2="14254" y2="4595"/>
                        <a14:foregroundMark x1="37500" y1="13129" x2="48246" y2="19037"/>
                        <a14:backgroundMark x1="23904" y1="6565" x2="23904" y2="6565"/>
                        <a14:backgroundMark x1="25219" y1="6565" x2="25219" y2="6565"/>
                        <a14:backgroundMark x1="25658" y1="6565" x2="25658" y2="6565"/>
                        <a14:backgroundMark x1="25658" y1="6783" x2="25658" y2="6783"/>
                        <a14:backgroundMark x1="25658" y1="7659" x2="25658" y2="7659"/>
                        <a14:backgroundMark x1="95395" y1="71554" x2="96272" y2="71335"/>
                        <a14:backgroundMark x1="94298" y1="71554" x2="95833" y2="70897"/>
                        <a14:backgroundMark x1="94737" y1="71991" x2="96491" y2="72648"/>
                        <a14:backgroundMark x1="96711" y1="85120" x2="95395" y2="88840"/>
                        <a14:backgroundMark x1="50040" y1="17127" x2="50877" y2="17505"/>
                        <a14:backgroundMark x1="51096" y1="17068" x2="51316" y2="17943"/>
                        <a14:backgroundMark x1="25658" y1="7440" x2="24342" y2="5908"/>
                        <a14:backgroundMark x1="18202" y1="3063" x2="18202" y2="3720"/>
                        <a14:backgroundMark x1="13596" y1="2407" x2="13158" y2="26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481" y="1291746"/>
            <a:ext cx="1937619" cy="194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>
            <a:extLst>
              <a:ext uri="{FF2B5EF4-FFF2-40B4-BE49-F238E27FC236}">
                <a16:creationId xmlns:a16="http://schemas.microsoft.com/office/drawing/2014/main" id="{41DEB20C-78D6-910E-1144-0DB378D15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478" y="3467711"/>
            <a:ext cx="5927044" cy="105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71122B-AAC9-005B-9340-957F714246A1}"/>
              </a:ext>
            </a:extLst>
          </p:cNvPr>
          <p:cNvSpPr txBox="1"/>
          <p:nvPr/>
        </p:nvSpPr>
        <p:spPr>
          <a:xfrm>
            <a:off x="756923" y="4600465"/>
            <a:ext cx="6778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Видео: </a:t>
            </a:r>
            <a:r>
              <a:rPr lang="en-US" dirty="0">
                <a:latin typeface="+mn-lt"/>
                <a:hlinkClick r:id="rId8"/>
              </a:rPr>
              <a:t>https://www.youtube.com/watch?v=RRbrgX9kJQk</a:t>
            </a:r>
            <a:r>
              <a:rPr lang="ru-RU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920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Распределитель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715100" y="1274562"/>
            <a:ext cx="82688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dirty="0">
                <a:latin typeface="+mn-lt"/>
              </a:rPr>
              <a:t>Распределители различаются: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latin typeface="+mn-lt"/>
              </a:rPr>
              <a:t>по числу присоединенных линий</a:t>
            </a:r>
            <a:r>
              <a:rPr lang="ru-RU" sz="1800" dirty="0">
                <a:latin typeface="+mn-lt"/>
              </a:rPr>
              <a:t>: 2-линейные. 3-линейные, 4-линейные и </a:t>
            </a:r>
            <a:r>
              <a:rPr lang="ru-RU" sz="1800" dirty="0" err="1">
                <a:latin typeface="+mn-lt"/>
              </a:rPr>
              <a:t>тд</a:t>
            </a:r>
            <a:r>
              <a:rPr lang="ru-RU" sz="1800" dirty="0">
                <a:latin typeface="+mn-lt"/>
              </a:rPr>
              <a:t>.: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latin typeface="+mn-lt"/>
              </a:rPr>
              <a:t>по числу позиций переключения</a:t>
            </a:r>
            <a:r>
              <a:rPr lang="ru-RU" sz="1800" dirty="0">
                <a:latin typeface="+mn-lt"/>
              </a:rPr>
              <a:t>: 2-позиционные, 3-позиционные и </a:t>
            </a:r>
            <a:r>
              <a:rPr lang="ru-RU" sz="1800" dirty="0" err="1">
                <a:latin typeface="+mn-lt"/>
              </a:rPr>
              <a:t>тд</a:t>
            </a:r>
            <a:r>
              <a:rPr lang="ru-RU" sz="1800" dirty="0">
                <a:latin typeface="+mn-lt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latin typeface="+mn-lt"/>
              </a:rPr>
              <a:t>по способу приведения в движение</a:t>
            </a:r>
            <a:r>
              <a:rPr lang="ru-RU" sz="1800" dirty="0">
                <a:latin typeface="+mn-lt"/>
              </a:rPr>
              <a:t>: с мускульным управлением, с механическим управлением, с пневматическим управлением, с электрическим управлением: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latin typeface="+mn-lt"/>
              </a:rPr>
              <a:t>по способу возврата в исходное положение</a:t>
            </a:r>
            <a:r>
              <a:rPr lang="ru-RU" sz="1800" dirty="0">
                <a:latin typeface="+mn-lt"/>
              </a:rPr>
              <a:t>: с пружинным возвратом, с возвратом при помощи давления.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731761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Распределитель</a:t>
            </a:r>
            <a:endParaRPr sz="2800" dirty="0">
              <a:latin typeface="+mj-lt"/>
            </a:endParaRP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CCB1BEF9-DF0A-15EA-650D-7594B8E6F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581150"/>
            <a:ext cx="66294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647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Распределитель</a:t>
            </a:r>
            <a:endParaRPr sz="2800" dirty="0">
              <a:latin typeface="+mj-lt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CFC8A25-3BA9-88CB-10D4-28A6B9221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27" y="1264697"/>
            <a:ext cx="5110213" cy="16453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9D3A05-7892-7396-6B95-B8C363D9D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157" y="3180722"/>
            <a:ext cx="7194943" cy="1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9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Дроссель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715100" y="1149516"/>
            <a:ext cx="7994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Дроссель дозирует поток в обоих направлениях течения, тем самым </a:t>
            </a:r>
            <a:r>
              <a:rPr lang="ru-RU" sz="1800" b="1" dirty="0">
                <a:latin typeface="+mn-lt"/>
              </a:rPr>
              <a:t>управляет расходом воздуха </a:t>
            </a:r>
            <a:r>
              <a:rPr lang="ru-RU" sz="1800" dirty="0">
                <a:latin typeface="+mn-lt"/>
              </a:rPr>
              <a:t>через сечение трубы. Аналог в электрических цепях - резистор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9910659-24A5-6875-D677-DE713687E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25" b="89892" l="6404" r="89655">
                        <a14:foregroundMark x1="22167" y1="84477" x2="43103" y2="80144"/>
                        <a14:foregroundMark x1="6897" y1="88809" x2="6650" y2="41877"/>
                        <a14:foregroundMark x1="6650" y1="41877" x2="12562" y2="39711"/>
                        <a14:foregroundMark x1="41626" y1="9747" x2="61084" y2="90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53454" y="2193784"/>
            <a:ext cx="3474108" cy="2370266"/>
          </a:xfrm>
          <a:prstGeom prst="rect">
            <a:avLst/>
          </a:prstGeom>
        </p:spPr>
      </p:pic>
      <p:pic>
        <p:nvPicPr>
          <p:cNvPr id="3" name="Picture 2" descr="ÐÐ°ÑÑÐ¸Ð½ÐºÐ¸ Ð¿Ð¾ Ð·Ð°Ð¿ÑÐ¾ÑÑ festo Ð´ÑÐ¾ÑÑÐµÐ»Ñ">
            <a:extLst>
              <a:ext uri="{FF2B5EF4-FFF2-40B4-BE49-F238E27FC236}">
                <a16:creationId xmlns:a16="http://schemas.microsoft.com/office/drawing/2014/main" id="{34943B58-4221-8BEF-6544-25D01A7EA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50" b="98000" l="2685" r="93960">
                        <a14:foregroundMark x1="19799" y1="74000" x2="22148" y2="77750"/>
                        <a14:foregroundMark x1="24161" y1="73250" x2="14094" y2="76250"/>
                        <a14:foregroundMark x1="13423" y1="80500" x2="15772" y2="87500"/>
                        <a14:foregroundMark x1="28523" y1="85500" x2="30201" y2="94750"/>
                        <a14:foregroundMark x1="17785" y1="98000" x2="27517" y2="97000"/>
                        <a14:foregroundMark x1="5705" y1="71500" x2="3020" y2="76000"/>
                        <a14:foregroundMark x1="63758" y1="95000" x2="86242" y2="94500"/>
                        <a14:foregroundMark x1="88926" y1="94000" x2="93960" y2="61000"/>
                        <a14:foregroundMark x1="93960" y1="61000" x2="90604" y2="46000"/>
                        <a14:foregroundMark x1="84564" y1="8250" x2="72483" y2="4750"/>
                        <a14:foregroundMark x1="74497" y1="5750" x2="88255" y2="4500"/>
                        <a14:foregroundMark x1="82886" y1="750" x2="71477" y2="1000"/>
                        <a14:foregroundMark x1="67450" y1="97000" x2="86577" y2="9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00" y="2193784"/>
            <a:ext cx="1633395" cy="219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Дуга 3">
            <a:extLst>
              <a:ext uri="{FF2B5EF4-FFF2-40B4-BE49-F238E27FC236}">
                <a16:creationId xmlns:a16="http://schemas.microsoft.com/office/drawing/2014/main" id="{24280860-D333-29D2-D30F-FC8D7B24E065}"/>
              </a:ext>
            </a:extLst>
          </p:cNvPr>
          <p:cNvSpPr/>
          <p:nvPr/>
        </p:nvSpPr>
        <p:spPr>
          <a:xfrm>
            <a:off x="3012492" y="3092554"/>
            <a:ext cx="666750" cy="1079500"/>
          </a:xfrm>
          <a:prstGeom prst="arc">
            <a:avLst>
              <a:gd name="adj1" fmla="val 18513466"/>
              <a:gd name="adj2" fmla="val 312539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уга 4">
            <a:extLst>
              <a:ext uri="{FF2B5EF4-FFF2-40B4-BE49-F238E27FC236}">
                <a16:creationId xmlns:a16="http://schemas.microsoft.com/office/drawing/2014/main" id="{D91FCAD4-32AF-097F-FD3D-579B4960A0CA}"/>
              </a:ext>
            </a:extLst>
          </p:cNvPr>
          <p:cNvSpPr/>
          <p:nvPr/>
        </p:nvSpPr>
        <p:spPr>
          <a:xfrm rot="10800000">
            <a:off x="3828409" y="3092554"/>
            <a:ext cx="666750" cy="1079500"/>
          </a:xfrm>
          <a:prstGeom prst="arc">
            <a:avLst>
              <a:gd name="adj1" fmla="val 18513466"/>
              <a:gd name="adj2" fmla="val 312539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30379AC-40C4-C500-D500-D531F55B8218}"/>
              </a:ext>
            </a:extLst>
          </p:cNvPr>
          <p:cNvCxnSpPr>
            <a:cxnSpLocks/>
          </p:cNvCxnSpPr>
          <p:nvPr/>
        </p:nvCxnSpPr>
        <p:spPr>
          <a:xfrm>
            <a:off x="3755232" y="3008416"/>
            <a:ext cx="0" cy="1247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FE279D51-3E2A-DF61-AA08-661F87EA3A78}"/>
              </a:ext>
            </a:extLst>
          </p:cNvPr>
          <p:cNvCxnSpPr/>
          <p:nvPr/>
        </p:nvCxnSpPr>
        <p:spPr>
          <a:xfrm flipV="1">
            <a:off x="3438525" y="3402806"/>
            <a:ext cx="742950" cy="44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BC9104-A550-A6D1-7CB7-31193F7C6E8C}"/>
              </a:ext>
            </a:extLst>
          </p:cNvPr>
          <p:cNvSpPr txBox="1"/>
          <p:nvPr/>
        </p:nvSpPr>
        <p:spPr>
          <a:xfrm>
            <a:off x="756923" y="4600465"/>
            <a:ext cx="77540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Видео (на примере гидравлики): </a:t>
            </a:r>
            <a:r>
              <a:rPr lang="en-US" dirty="0">
                <a:solidFill>
                  <a:schemeClr val="accent1"/>
                </a:solidFill>
                <a:latin typeface="+mn-lt"/>
                <a:hlinkClick r:id="rId7"/>
              </a:rPr>
              <a:t>https://www.youtube.com/watch?v=1c4z92ifZuY</a:t>
            </a:r>
            <a:r>
              <a:rPr lang="ru-RU" dirty="0">
                <a:solidFill>
                  <a:schemeClr val="accent1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3293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Захват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715049" y="1364260"/>
            <a:ext cx="771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Устройство для фиксации и перемещения заготовки, детали и </a:t>
            </a:r>
            <a:r>
              <a:rPr lang="ru-RU" sz="1800" dirty="0" err="1">
                <a:latin typeface="+mn-lt"/>
              </a:rPr>
              <a:t>тд</a:t>
            </a:r>
            <a:r>
              <a:rPr lang="ru-RU" sz="1800" dirty="0">
                <a:latin typeface="+mn-lt"/>
              </a:rPr>
              <a:t>.</a:t>
            </a:r>
          </a:p>
        </p:txBody>
      </p:sp>
      <p:pic>
        <p:nvPicPr>
          <p:cNvPr id="2" name="Объект 3">
            <a:extLst>
              <a:ext uri="{FF2B5EF4-FFF2-40B4-BE49-F238E27FC236}">
                <a16:creationId xmlns:a16="http://schemas.microsoft.com/office/drawing/2014/main" id="{C469C174-C5DE-00AB-B457-024EAC02C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974" y="2014153"/>
            <a:ext cx="5970051" cy="21118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4658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Захват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715049" y="1364260"/>
            <a:ext cx="771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Устройство для фиксации и перемещения заготовки, детали и </a:t>
            </a:r>
            <a:r>
              <a:rPr lang="ru-RU" sz="1800" dirty="0" err="1">
                <a:latin typeface="+mn-lt"/>
              </a:rPr>
              <a:t>тд</a:t>
            </a:r>
            <a:r>
              <a:rPr lang="ru-RU" sz="1800" dirty="0">
                <a:latin typeface="+mn-lt"/>
              </a:rPr>
              <a:t>.</a:t>
            </a:r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7A08E6FD-403C-7A88-6B42-DF63352F8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44" y="2014152"/>
            <a:ext cx="2180869" cy="2292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Festo VASB-15-1/8-PUR-B 1395671 Захват вакуумный сильфонный | Промышленная  Автоматизация">
            <a:extLst>
              <a:ext uri="{FF2B5EF4-FFF2-40B4-BE49-F238E27FC236}">
                <a16:creationId xmlns:a16="http://schemas.microsoft.com/office/drawing/2014/main" id="{84E9DB65-D8CE-FE64-59C6-792F5F1B6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500" b="94750" l="3670" r="94495">
                        <a14:foregroundMark x1="33486" y1="13750" x2="49083" y2="12000"/>
                        <a14:foregroundMark x1="45413" y1="8750" x2="54128" y2="10000"/>
                        <a14:foregroundMark x1="65138" y1="8750" x2="67431" y2="11250"/>
                        <a14:foregroundMark x1="67890" y1="14000" x2="63303" y2="17000"/>
                        <a14:foregroundMark x1="69266" y1="8250" x2="29358" y2="13000"/>
                        <a14:foregroundMark x1="29358" y1="13000" x2="45413" y2="15750"/>
                        <a14:foregroundMark x1="27982" y1="9500" x2="69266" y2="8000"/>
                        <a14:foregroundMark x1="69266" y1="8000" x2="69725" y2="8500"/>
                        <a14:foregroundMark x1="68349" y1="6500" x2="35321" y2="6500"/>
                        <a14:foregroundMark x1="64339" y1="3683" x2="70642" y2="3500"/>
                        <a14:foregroundMark x1="27523" y1="4750" x2="59017" y2="3837"/>
                        <a14:foregroundMark x1="70642" y1="3500" x2="72477" y2="4500"/>
                        <a14:foregroundMark x1="26147" y1="5000" x2="6881" y2="45500"/>
                        <a14:foregroundMark x1="6881" y1="45500" x2="8257" y2="47000"/>
                        <a14:foregroundMark x1="5963" y1="38000" x2="5046" y2="33000"/>
                        <a14:foregroundMark x1="83486" y1="28250" x2="86239" y2="37500"/>
                        <a14:foregroundMark x1="88991" y1="41500" x2="87615" y2="44750"/>
                        <a14:foregroundMark x1="90367" y1="38000" x2="91743" y2="35250"/>
                        <a14:foregroundMark x1="93119" y1="31750" x2="83486" y2="24500"/>
                        <a14:foregroundMark x1="82110" y1="21750" x2="92661" y2="26500"/>
                        <a14:foregroundMark x1="81193" y1="74500" x2="94954" y2="67750"/>
                        <a14:foregroundMark x1="87615" y1="86500" x2="66972" y2="90250"/>
                        <a14:foregroundMark x1="82110" y1="90500" x2="44954" y2="94750"/>
                        <a14:foregroundMark x1="94954" y1="85250" x2="94495" y2="83500"/>
                        <a14:foregroundMark x1="6881" y1="83750" x2="6881" y2="83750"/>
                        <a14:foregroundMark x1="5505" y1="82500" x2="5505" y2="82500"/>
                        <a14:foregroundMark x1="3670" y1="67750" x2="3670" y2="67750"/>
                        <a14:foregroundMark x1="5963" y1="30000" x2="5963" y2="30000"/>
                        <a14:backgroundMark x1="31651" y1="250" x2="68349" y2="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852" y="1924069"/>
            <a:ext cx="1347716" cy="247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SG комплектный вакуумный захват, круглый | Детали станков">
            <a:extLst>
              <a:ext uri="{FF2B5EF4-FFF2-40B4-BE49-F238E27FC236}">
                <a16:creationId xmlns:a16="http://schemas.microsoft.com/office/drawing/2014/main" id="{5905A75E-6529-2E99-AFC8-9F9AF836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01" b="90547" l="9069" r="89951">
                        <a14:foregroundMark x1="75000" y1="9950" x2="83578" y2="10199"/>
                        <a14:foregroundMark x1="9069" y1="64428" x2="9559" y2="65423"/>
                        <a14:foregroundMark x1="31863" y1="90547" x2="34804" y2="900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707" y="1833988"/>
            <a:ext cx="2706098" cy="266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495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Обратный клапан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715049" y="1364260"/>
            <a:ext cx="7713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Обратный клапан обеспечивает прохождение воздуха </a:t>
            </a:r>
            <a:r>
              <a:rPr lang="ru-RU" sz="1800" b="1" dirty="0">
                <a:latin typeface="+mn-lt"/>
              </a:rPr>
              <a:t>только в одном направлении</a:t>
            </a:r>
            <a:r>
              <a:rPr lang="ru-RU" sz="1800" dirty="0">
                <a:latin typeface="+mn-lt"/>
              </a:rPr>
              <a:t>. Если параллельно с дросселем включить обратный клапан, тогда в одном из направлений будет ограничиваться расход воздуха, а в противоположном направлении расход будет максимальным.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A174DD-B160-90E6-6ECD-629ACEEB8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91" b="91388" l="9434" r="91824">
                        <a14:foregroundMark x1="16981" y1="20574" x2="51572" y2="20574"/>
                        <a14:foregroundMark x1="51572" y1="20574" x2="91824" y2="21053"/>
                        <a14:foregroundMark x1="16352" y1="77512" x2="49057" y2="76077"/>
                        <a14:foregroundMark x1="49057" y1="76077" x2="89308" y2="77033"/>
                        <a14:foregroundMark x1="89308" y1="77033" x2="91824" y2="77033"/>
                        <a14:foregroundMark x1="45283" y1="81818" x2="44654" y2="87560"/>
                        <a14:foregroundMark x1="36478" y1="77033" x2="37736" y2="91388"/>
                        <a14:foregroundMark x1="36478" y1="66029" x2="37107" y2="79426"/>
                        <a14:foregroundMark x1="37107" y1="67464" x2="74214" y2="67464"/>
                        <a14:foregroundMark x1="74214" y1="67464" x2="77987" y2="37321"/>
                        <a14:foregroundMark x1="77987" y1="37321" x2="39623" y2="31100"/>
                        <a14:foregroundMark x1="39623" y1="31100" x2="37736" y2="70335"/>
                        <a14:backgroundMark x1="57233" y1="89474" x2="68553" y2="90431"/>
                        <a14:backgroundMark x1="64151" y1="89474" x2="54088" y2="89952"/>
                        <a14:backgroundMark x1="23899" y1="66507" x2="25305" y2="704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69456" y="2495964"/>
            <a:ext cx="1617474" cy="2126114"/>
          </a:xfrm>
          <a:prstGeom prst="rect">
            <a:avLst/>
          </a:prstGeom>
        </p:spPr>
      </p:pic>
      <p:pic>
        <p:nvPicPr>
          <p:cNvPr id="22530" name="Picture 2" descr="Обратный клапан: устройство и назначение">
            <a:extLst>
              <a:ext uri="{FF2B5EF4-FFF2-40B4-BE49-F238E27FC236}">
                <a16:creationId xmlns:a16="http://schemas.microsoft.com/office/drawing/2014/main" id="{871B4752-14E9-0E48-1CC9-B04DFA0550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11914" y1="30690" x2="23438" y2="48276"/>
                        <a14:foregroundMark x1="23438" y1="48276" x2="23242" y2="81034"/>
                        <a14:foregroundMark x1="23242" y1="81034" x2="11523" y2="47931"/>
                        <a14:foregroundMark x1="11523" y1="47931" x2="11719" y2="31724"/>
                        <a14:foregroundMark x1="43164" y1="30690" x2="56445" y2="40690"/>
                        <a14:foregroundMark x1="56445" y1="40690" x2="55273" y2="71724"/>
                        <a14:foregroundMark x1="55273" y1="71724" x2="43555" y2="43793"/>
                        <a14:foregroundMark x1="43555" y1="43793" x2="42578" y2="31034"/>
                        <a14:foregroundMark x1="89844" y1="31724" x2="88867" y2="84483"/>
                        <a14:foregroundMark x1="88867" y1="84483" x2="88867" y2="84483"/>
                        <a14:foregroundMark x1="44336" y1="27931" x2="55664" y2="28621"/>
                        <a14:foregroundMark x1="46680" y1="27241" x2="54688" y2="27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141" t="23621" r="7035" b="9539"/>
          <a:stretch/>
        </p:blipFill>
        <p:spPr bwMode="auto">
          <a:xfrm>
            <a:off x="2916947" y="2799126"/>
            <a:ext cx="3310103" cy="147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A90CA1-FD44-D833-3A7A-4C2B5A45C134}"/>
              </a:ext>
            </a:extLst>
          </p:cNvPr>
          <p:cNvSpPr txBox="1"/>
          <p:nvPr/>
        </p:nvSpPr>
        <p:spPr>
          <a:xfrm>
            <a:off x="3018547" y="4323848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Конус</a:t>
            </a:r>
            <a:endParaRPr lang="ru-RU" sz="16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EBBB1-28AE-4342-EE88-E61122A29E67}"/>
              </a:ext>
            </a:extLst>
          </p:cNvPr>
          <p:cNvSpPr txBox="1"/>
          <p:nvPr/>
        </p:nvSpPr>
        <p:spPr>
          <a:xfrm>
            <a:off x="4156977" y="4323848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Шарик</a:t>
            </a:r>
            <a:endParaRPr lang="ru-RU" sz="16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B187C-2F03-EC34-FDD8-3A2DEC9DBB1B}"/>
              </a:ext>
            </a:extLst>
          </p:cNvPr>
          <p:cNvSpPr txBox="1"/>
          <p:nvPr/>
        </p:nvSpPr>
        <p:spPr>
          <a:xfrm>
            <a:off x="5345100" y="4323848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n-lt"/>
              </a:rPr>
              <a:t>Тарелка</a:t>
            </a:r>
            <a:endParaRPr lang="ru-RU" sz="16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46341-B8AB-F73F-7ED3-AA0393E9D469}"/>
              </a:ext>
            </a:extLst>
          </p:cNvPr>
          <p:cNvSpPr txBox="1"/>
          <p:nvPr/>
        </p:nvSpPr>
        <p:spPr>
          <a:xfrm>
            <a:off x="693065" y="4681923"/>
            <a:ext cx="8740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Видео (на примере гидравлики): </a:t>
            </a:r>
            <a:r>
              <a:rPr lang="en-US" dirty="0">
                <a:solidFill>
                  <a:schemeClr val="accent1"/>
                </a:solidFill>
                <a:latin typeface="+mn-lt"/>
                <a:hlinkClick r:id="rId7"/>
              </a:rPr>
              <a:t>https://www.youtube.com/watch?v=hy7U40qJSgw</a:t>
            </a:r>
            <a:r>
              <a:rPr lang="ru-RU" dirty="0">
                <a:solidFill>
                  <a:schemeClr val="accent1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178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>
            <a:spLocks noGrp="1"/>
          </p:cNvSpPr>
          <p:nvPr>
            <p:ph type="title"/>
          </p:nvPr>
        </p:nvSpPr>
        <p:spPr>
          <a:xfrm>
            <a:off x="715100" y="2259575"/>
            <a:ext cx="4415700" cy="23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Manrope SemiBold" pitchFamily="2" charset="0"/>
              </a:rPr>
              <a:t>Практика</a:t>
            </a:r>
            <a:endParaRPr dirty="0">
              <a:latin typeface="Manrope SemiBold" pitchFamily="2" charset="0"/>
            </a:endParaRPr>
          </a:p>
        </p:txBody>
      </p:sp>
      <p:cxnSp>
        <p:nvCxnSpPr>
          <p:cNvPr id="229" name="Google Shape;229;p38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647827" y="51821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1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593119" y="1491260"/>
            <a:ext cx="38455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Управление литейным ковшом осуществляется с помощью цилиндра двухстороннего действия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При нажатии </a:t>
            </a:r>
            <a:r>
              <a:rPr lang="ru-RU" sz="1800" dirty="0" err="1">
                <a:latin typeface="+mn-lt"/>
              </a:rPr>
              <a:t>пневмокнопки</a:t>
            </a:r>
            <a:r>
              <a:rPr lang="ru-RU" sz="1800" dirty="0">
                <a:latin typeface="+mn-lt"/>
              </a:rPr>
              <a:t> шток цилиндра выдвигается, а при её отпускании возвращается в исходное положение</a:t>
            </a:r>
          </a:p>
        </p:txBody>
      </p:sp>
      <p:pic>
        <p:nvPicPr>
          <p:cNvPr id="4" name="Рисунок 4" descr="Управление литейным ковшом.jpg">
            <a:extLst>
              <a:ext uri="{FF2B5EF4-FFF2-40B4-BE49-F238E27FC236}">
                <a16:creationId xmlns:a16="http://schemas.microsoft.com/office/drawing/2014/main" id="{A9C052BF-6150-9D2D-57CB-920F35B50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1013619"/>
            <a:ext cx="3845531" cy="3789229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887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2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593119" y="894360"/>
            <a:ext cx="8404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Поворотная секция конвейера перемещается штоком цилиндра двойного действия. Управление прямым и обратным ходом штока осуществляется отдельными кнопками </a:t>
            </a:r>
          </a:p>
        </p:txBody>
      </p:sp>
      <p:pic>
        <p:nvPicPr>
          <p:cNvPr id="2" name="Содержимое 5" descr="Распределение ящиков.jpg">
            <a:extLst>
              <a:ext uri="{FF2B5EF4-FFF2-40B4-BE49-F238E27FC236}">
                <a16:creationId xmlns:a16="http://schemas.microsoft.com/office/drawing/2014/main" id="{223764F1-8BA8-3E8D-8CC6-183CA660D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57419" y="1711010"/>
            <a:ext cx="4817342" cy="2800030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6E751C-45AD-F7C4-1A43-C45455803158}"/>
              </a:ext>
            </a:extLst>
          </p:cNvPr>
          <p:cNvSpPr txBox="1"/>
          <p:nvPr/>
        </p:nvSpPr>
        <p:spPr>
          <a:xfrm>
            <a:off x="593119" y="2069150"/>
            <a:ext cx="35845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+mn-lt"/>
              </a:rPr>
              <a:t>Шток цилиндра должен оставаться в положении, определяемом последним сигналом, до тех пор, пока не будет подан противоположный сигнал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772027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3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486439" y="1424544"/>
            <a:ext cx="38645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Управление прессом осуществляется с помощью цилиндра двухстороннего действия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После нажатия </a:t>
            </a:r>
            <a:r>
              <a:rPr lang="ru-RU" sz="1800" dirty="0" err="1">
                <a:latin typeface="+mn-lt"/>
              </a:rPr>
              <a:t>пневмокнопки</a:t>
            </a:r>
            <a:r>
              <a:rPr lang="ru-RU" sz="1800" dirty="0">
                <a:latin typeface="+mn-lt"/>
              </a:rPr>
              <a:t> шток цилиндра выдвигается, обратный ход происходит сразу после достижения штоком конечного положения</a:t>
            </a:r>
          </a:p>
        </p:txBody>
      </p:sp>
      <p:pic>
        <p:nvPicPr>
          <p:cNvPr id="2" name="Содержимое 5" descr="Пресс.jpg">
            <a:extLst>
              <a:ext uri="{FF2B5EF4-FFF2-40B4-BE49-F238E27FC236}">
                <a16:creationId xmlns:a16="http://schemas.microsoft.com/office/drawing/2014/main" id="{143107CE-8829-2FE6-EFBE-04A0D63C3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76114" y="1173993"/>
            <a:ext cx="4545322" cy="3260286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1143087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4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593119" y="973100"/>
            <a:ext cx="84365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Перфорация ленты осуществляется с помощью цилиндра двухстороннего действия. Выдвижение штока возможно после нажатия </a:t>
            </a:r>
            <a:r>
              <a:rPr lang="ru-RU" sz="1800" dirty="0" err="1">
                <a:latin typeface="+mn-lt"/>
              </a:rPr>
              <a:t>пневмокнопки</a:t>
            </a:r>
            <a:r>
              <a:rPr lang="ru-RU" sz="1800" dirty="0">
                <a:latin typeface="+mn-lt"/>
              </a:rPr>
              <a:t>, обратный ход происходит после достижения штоком конечного положения</a:t>
            </a:r>
          </a:p>
        </p:txBody>
      </p:sp>
      <p:pic>
        <p:nvPicPr>
          <p:cNvPr id="2" name="Содержимое 5" descr="Перфоратор.jpg">
            <a:extLst>
              <a:ext uri="{FF2B5EF4-FFF2-40B4-BE49-F238E27FC236}">
                <a16:creationId xmlns:a16="http://schemas.microsoft.com/office/drawing/2014/main" id="{AF69EB02-F72B-0D1A-CFB6-408865F9B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971675"/>
            <a:ext cx="4198937" cy="2952750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4A3A74-E819-1CB1-92C4-ABC688EECD20}"/>
              </a:ext>
            </a:extLst>
          </p:cNvPr>
          <p:cNvSpPr txBox="1"/>
          <p:nvPr/>
        </p:nvSpPr>
        <p:spPr>
          <a:xfrm>
            <a:off x="593119" y="2791213"/>
            <a:ext cx="40322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+mn-lt"/>
              </a:rPr>
              <a:t>Дополнительные условия:</a:t>
            </a:r>
          </a:p>
          <a:p>
            <a:r>
              <a:rPr lang="ru-RU" sz="1800" dirty="0">
                <a:latin typeface="+mn-lt"/>
              </a:rPr>
              <a:t>Скорость прямого хода должна быть очень высокой, а скорость обратного хода – низкой и регулируемой</a:t>
            </a:r>
            <a:endParaRPr lang="ru-RU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8560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5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593119" y="1216940"/>
            <a:ext cx="34912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Пакеты перемещаются из вертикального магазина с помощью </a:t>
            </a:r>
            <a:r>
              <a:rPr lang="ru-RU" sz="1800" dirty="0" err="1">
                <a:latin typeface="+mn-lt"/>
              </a:rPr>
              <a:t>пневмоцилиндра</a:t>
            </a:r>
            <a:endParaRPr lang="ru-RU" sz="1800" dirty="0">
              <a:latin typeface="+mn-lt"/>
            </a:endParaRP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Выдвижение штока возможно после нажатия одной из двух кнопок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Обратный ход происходит после достижения штоком конечного положения</a:t>
            </a:r>
          </a:p>
        </p:txBody>
      </p:sp>
      <p:pic>
        <p:nvPicPr>
          <p:cNvPr id="2" name="Содержимое 5" descr="Перемещение пакетов.jpg">
            <a:extLst>
              <a:ext uri="{FF2B5EF4-FFF2-40B4-BE49-F238E27FC236}">
                <a16:creationId xmlns:a16="http://schemas.microsoft.com/office/drawing/2014/main" id="{6CA7DF62-D8FC-ABD7-75D9-95D60D982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84320" y="1209203"/>
            <a:ext cx="4857750" cy="2954338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1370150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6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593119" y="906789"/>
            <a:ext cx="8809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Детали перемещаются с платформы на транспортный конвейер посредством  цилиндра двухстороннего действия</a:t>
            </a:r>
          </a:p>
        </p:txBody>
      </p:sp>
      <p:pic>
        <p:nvPicPr>
          <p:cNvPr id="2" name="Содержимое 5" descr="Перемещение деталей.jpg">
            <a:extLst>
              <a:ext uri="{FF2B5EF4-FFF2-40B4-BE49-F238E27FC236}">
                <a16:creationId xmlns:a16="http://schemas.microsoft.com/office/drawing/2014/main" id="{6166F679-28CC-9F28-6B13-42BF88968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799" y="1459877"/>
            <a:ext cx="3608071" cy="3362303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5AB6C5-5396-9322-8AF0-B4BCDFC474EB}"/>
              </a:ext>
            </a:extLst>
          </p:cNvPr>
          <p:cNvSpPr txBox="1"/>
          <p:nvPr/>
        </p:nvSpPr>
        <p:spPr>
          <a:xfrm>
            <a:off x="593119" y="1746109"/>
            <a:ext cx="47205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+mn-lt"/>
              </a:rPr>
              <a:t>Команда на выдвижение штока даётся ручной кнопкой. Возврат штока происходит после достижения им конечного положения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C9B9AD-56A0-6FBC-ACA1-C766B65BB9DD}"/>
              </a:ext>
            </a:extLst>
          </p:cNvPr>
          <p:cNvSpPr txBox="1"/>
          <p:nvPr/>
        </p:nvSpPr>
        <p:spPr>
          <a:xfrm>
            <a:off x="593119" y="3139427"/>
            <a:ext cx="43510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Monotype Sorts" pitchFamily="2" charset="2"/>
              <a:buNone/>
            </a:pPr>
            <a:r>
              <a:rPr lang="ru-RU" altLang="ru-RU" sz="1800" b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Дополнительные условия:</a:t>
            </a:r>
          </a:p>
          <a:p>
            <a:pPr marL="0" indent="0">
              <a:buFont typeface="Monotype Sorts" pitchFamily="2" charset="2"/>
              <a:buNone/>
            </a:pPr>
            <a:r>
              <a:rPr lang="ru-RU" altLang="ru-RU" sz="1800" b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Выдвижение штока возможно лишь тогда, когда он находится в исходном положении.</a:t>
            </a:r>
            <a:endParaRPr lang="en-US" altLang="ru-RU" sz="1800" b="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2384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7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604538" y="713800"/>
            <a:ext cx="8470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Поступающие заготовки распределяются между четырьмя конвейерами с помощью подвижной секции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Секция перемещается  с помощью цилиндра-позиционера </a:t>
            </a:r>
          </a:p>
        </p:txBody>
      </p:sp>
      <p:pic>
        <p:nvPicPr>
          <p:cNvPr id="2" name="Содержимое 5" descr="Распределение заготовок.jpg">
            <a:extLst>
              <a:ext uri="{FF2B5EF4-FFF2-40B4-BE49-F238E27FC236}">
                <a16:creationId xmlns:a16="http://schemas.microsoft.com/office/drawing/2014/main" id="{E312D1D6-1468-7D27-F58B-6A853CA28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99660" y="1981200"/>
            <a:ext cx="3932311" cy="2896742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85CA4D-129E-3A3F-721F-8C7E05D135BD}"/>
              </a:ext>
            </a:extLst>
          </p:cNvPr>
          <p:cNvSpPr txBox="1"/>
          <p:nvPr/>
        </p:nvSpPr>
        <p:spPr>
          <a:xfrm>
            <a:off x="604538" y="2053590"/>
            <a:ext cx="39323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+mn-lt"/>
              </a:rPr>
              <a:t>Перемещение этой секции в требуемую позицию происходит  после нажатия соответствующей кнопки и должно быть возможно в любой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1129031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8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604538" y="2437170"/>
            <a:ext cx="38455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Т.е. для получения сигнала  на включение пресса нужно нажать две кнопки в течении 0,5 секунды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Шток цилиндра должен немедленно отводиться при отпускании одной  или обеих кнопок.</a:t>
            </a:r>
          </a:p>
        </p:txBody>
      </p:sp>
      <p:pic>
        <p:nvPicPr>
          <p:cNvPr id="2" name="Содержимое 7" descr="Управление прессом.jpg">
            <a:extLst>
              <a:ext uri="{FF2B5EF4-FFF2-40B4-BE49-F238E27FC236}">
                <a16:creationId xmlns:a16="http://schemas.microsoft.com/office/drawing/2014/main" id="{6D7B2159-EDC6-FD92-CA60-F4D36B826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30806" y="2051726"/>
            <a:ext cx="2920076" cy="2802214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B4787E-49DF-FCEC-206A-29F0BA0AA2B4}"/>
              </a:ext>
            </a:extLst>
          </p:cNvPr>
          <p:cNvSpPr txBox="1"/>
          <p:nvPr/>
        </p:nvSpPr>
        <p:spPr>
          <a:xfrm>
            <a:off x="593118" y="808643"/>
            <a:ext cx="84670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+mn-lt"/>
              </a:rPr>
              <a:t>Запрессовка стальных штифтов производится цилиндром двухстороннего действия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Чтобы обеспечить требования безопасности, следует при управлении прессом задействовать обе руки.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473069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9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604538" y="851180"/>
            <a:ext cx="38455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Для тиснения логарифмических линеек используется цилиндр двухстороннего действия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Шток цилиндра может быть выдвинут при нажатии кнопки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Обратный ход штока производится автоматически после достижения штоком крайнего выдвинутого положения и при достижения в полости цилиндра заданного давления</a:t>
            </a:r>
          </a:p>
        </p:txBody>
      </p:sp>
      <p:pic>
        <p:nvPicPr>
          <p:cNvPr id="2" name="Содержимое 5" descr="Теснение логорифмических линеек.jpg">
            <a:extLst>
              <a:ext uri="{FF2B5EF4-FFF2-40B4-BE49-F238E27FC236}">
                <a16:creationId xmlns:a16="http://schemas.microsoft.com/office/drawing/2014/main" id="{D7A34A81-DF31-2470-FFA2-F8E529F7A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17772" y="713800"/>
            <a:ext cx="3685509" cy="4022158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2134219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10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412144" y="821861"/>
            <a:ext cx="8634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Зажим заготовки осуществляется при нажатии одной из двух кнопок. Третья кнопка управляет разжимом</a:t>
            </a:r>
          </a:p>
        </p:txBody>
      </p:sp>
      <p:pic>
        <p:nvPicPr>
          <p:cNvPr id="2" name="Содержимое 5" descr="Коленчато-рычажный зажим.jpg">
            <a:extLst>
              <a:ext uri="{FF2B5EF4-FFF2-40B4-BE49-F238E27FC236}">
                <a16:creationId xmlns:a16="http://schemas.microsoft.com/office/drawing/2014/main" id="{3DDB186D-4418-2142-13A6-EE1E6B998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19977" y="1576253"/>
            <a:ext cx="3771942" cy="2871727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32D316-31C4-2A74-0FE7-75FED68DD1D6}"/>
              </a:ext>
            </a:extLst>
          </p:cNvPr>
          <p:cNvSpPr txBox="1"/>
          <p:nvPr/>
        </p:nvSpPr>
        <p:spPr>
          <a:xfrm>
            <a:off x="412144" y="3372710"/>
            <a:ext cx="45758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Font typeface="Monotype Sorts" pitchFamily="2" charset="2"/>
              <a:buNone/>
            </a:pPr>
            <a:r>
              <a:rPr lang="ru-RU" altLang="ru-RU" sz="1800" b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Дополнительные условия: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ru-RU" altLang="ru-RU" sz="1800" b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а) зажим возможен только при наличии заготовки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ru-RU" altLang="ru-RU" sz="1800" b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б) разжим должен быть заблокирован при сверлении детали</a:t>
            </a:r>
            <a:r>
              <a:rPr lang="en-US" altLang="ru-RU" sz="1800" b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7B2D5-4AED-8ECB-3F03-A59E4D324698}"/>
              </a:ext>
            </a:extLst>
          </p:cNvPr>
          <p:cNvSpPr txBox="1"/>
          <p:nvPr/>
        </p:nvSpPr>
        <p:spPr>
          <a:xfrm>
            <a:off x="412144" y="1576253"/>
            <a:ext cx="45758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+mn-lt"/>
              </a:rPr>
              <a:t>После зажима заготовки выдвигается шток цилиндра подачи сверлильного механизма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После завершения операции сверления шток цилиндра подачи втягивается </a:t>
            </a:r>
          </a:p>
        </p:txBody>
      </p:sp>
    </p:spTree>
    <p:extLst>
      <p:ext uri="{BB962C8B-B14F-4D97-AF65-F5344CB8AC3E}">
        <p14:creationId xmlns:p14="http://schemas.microsoft.com/office/powerpoint/2010/main" val="40476545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11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167008" y="713800"/>
            <a:ext cx="8566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Для гибки металлических пластин используется гибочное устройство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После нажатии кнопки «Пуск», шток цилиндра А зажимает заготовку и удерживает её, шток цилиндра В изгибает её и возвращается в исходное положение, а шток цилиндра С завершает операцию гибки</a:t>
            </a:r>
          </a:p>
        </p:txBody>
      </p:sp>
      <p:pic>
        <p:nvPicPr>
          <p:cNvPr id="2" name="Содержимое 7" descr="Гибочное устройство.jpg">
            <a:extLst>
              <a:ext uri="{FF2B5EF4-FFF2-40B4-BE49-F238E27FC236}">
                <a16:creationId xmlns:a16="http://schemas.microsoft.com/office/drawing/2014/main" id="{A6B2739E-E231-4A8A-9214-BE2AF20A7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50068" y="2191128"/>
            <a:ext cx="4069712" cy="2734169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BA9749-92F5-596E-03B7-87B5DD6700AC}"/>
              </a:ext>
            </a:extLst>
          </p:cNvPr>
          <p:cNvSpPr txBox="1"/>
          <p:nvPr/>
        </p:nvSpPr>
        <p:spPr>
          <a:xfrm>
            <a:off x="167008" y="2280031"/>
            <a:ext cx="40697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+mn-lt"/>
              </a:rPr>
              <a:t>После возвращения штока цилиндра С в исходное положение, шток цилиндра А втягивается и освобождает готовую деталь.  Готовая деталь извлекается из устройства вручную.</a:t>
            </a:r>
          </a:p>
        </p:txBody>
      </p:sp>
    </p:spTree>
    <p:extLst>
      <p:ext uri="{BB962C8B-B14F-4D97-AF65-F5344CB8AC3E}">
        <p14:creationId xmlns:p14="http://schemas.microsoft.com/office/powerpoint/2010/main" val="3164211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1 решение</a:t>
            </a:r>
            <a:endParaRPr sz="2800" dirty="0">
              <a:latin typeface="+mj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C31D15-FC2F-2B1C-C881-2725B8EC4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869" y="713800"/>
            <a:ext cx="2842261" cy="444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95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2 решение</a:t>
            </a:r>
            <a:endParaRPr sz="28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3717A3-D37F-B8C9-5259-03DC0EDC7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076" y="695098"/>
            <a:ext cx="3533324" cy="417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718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3 решение</a:t>
            </a:r>
            <a:endParaRPr sz="28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C793A0-C058-90A3-AB15-E917C076A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03" y="754454"/>
            <a:ext cx="3795549" cy="382269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4F6677-4992-A5AE-35E5-C618546178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41"/>
          <a:stretch/>
        </p:blipFill>
        <p:spPr>
          <a:xfrm>
            <a:off x="5857211" y="713800"/>
            <a:ext cx="2693670" cy="15984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B8925A-9D1B-438F-2BD0-886AB6F09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11" y="2571750"/>
            <a:ext cx="2693670" cy="16162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2A1409-5154-EC53-05A6-22B64ABD6416}"/>
              </a:ext>
            </a:extLst>
          </p:cNvPr>
          <p:cNvSpPr txBox="1"/>
          <p:nvPr/>
        </p:nvSpPr>
        <p:spPr>
          <a:xfrm>
            <a:off x="4450069" y="1343740"/>
            <a:ext cx="12763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+mn-lt"/>
              </a:rPr>
              <a:t>Дроссель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CD5AF-64B8-2BEB-0A6E-6DF8B2519733}"/>
              </a:ext>
            </a:extLst>
          </p:cNvPr>
          <p:cNvSpPr txBox="1"/>
          <p:nvPr/>
        </p:nvSpPr>
        <p:spPr>
          <a:xfrm>
            <a:off x="4450068" y="3210574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+mn-lt"/>
              </a:rPr>
              <a:t>Дроссель 2</a:t>
            </a:r>
          </a:p>
        </p:txBody>
      </p:sp>
    </p:spTree>
    <p:extLst>
      <p:ext uri="{BB962C8B-B14F-4D97-AF65-F5344CB8AC3E}">
        <p14:creationId xmlns:p14="http://schemas.microsoft.com/office/powerpoint/2010/main" val="39100850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4 решение</a:t>
            </a:r>
            <a:endParaRPr sz="2800" dirty="0">
              <a:latin typeface="+mj-lt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9880895-201C-9E16-5707-DEB36ADD3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03" y="754454"/>
            <a:ext cx="3795549" cy="382269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327197-06DE-3FA3-77A9-057C8B130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211" y="2571750"/>
            <a:ext cx="2693670" cy="16162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13D64-8646-3408-650F-B96E3C634170}"/>
              </a:ext>
            </a:extLst>
          </p:cNvPr>
          <p:cNvSpPr txBox="1"/>
          <p:nvPr/>
        </p:nvSpPr>
        <p:spPr>
          <a:xfrm>
            <a:off x="4450069" y="1343740"/>
            <a:ext cx="12763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+mn-lt"/>
              </a:rPr>
              <a:t>Дроссель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12B93-C274-D5E6-D273-C5BC579F61DE}"/>
              </a:ext>
            </a:extLst>
          </p:cNvPr>
          <p:cNvSpPr txBox="1"/>
          <p:nvPr/>
        </p:nvSpPr>
        <p:spPr>
          <a:xfrm>
            <a:off x="4450068" y="3210574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+mn-lt"/>
              </a:rPr>
              <a:t>Дроссель 2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1D4C660-DCF9-BBF9-41B0-6DCB825EA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11" y="704916"/>
            <a:ext cx="2732851" cy="161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653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5 решение</a:t>
            </a:r>
            <a:endParaRPr sz="28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8F2B9C-7EF2-BF9D-90B0-7B10D6903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232" y="905825"/>
            <a:ext cx="6185535" cy="370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39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6 решение</a:t>
            </a:r>
            <a:endParaRPr sz="28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54C3A5-1321-DB99-7B33-487422E87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1109267"/>
            <a:ext cx="5621632" cy="30337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B18287-B343-E444-01A9-87726EEEC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669" y="541874"/>
            <a:ext cx="3046095" cy="281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01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7 решение</a:t>
            </a:r>
            <a:endParaRPr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5480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8 решение</a:t>
            </a:r>
            <a:endParaRPr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6773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9 решение</a:t>
            </a:r>
            <a:endParaRPr sz="28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CE33B3-04FC-F695-535C-2277B5F8C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1071738"/>
            <a:ext cx="5615940" cy="300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807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10 решение</a:t>
            </a:r>
            <a:endParaRPr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74431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93119" y="1651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Задание 11 решение</a:t>
            </a:r>
            <a:endParaRPr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05569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Другая 3">
      <a:majorFont>
        <a:latin typeface="Manrope SemiBold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1770</TotalTime>
  <Words>1616</Words>
  <Application>Microsoft Office PowerPoint</Application>
  <PresentationFormat>Экран (16:9)</PresentationFormat>
  <Paragraphs>260</Paragraphs>
  <Slides>54</Slides>
  <Notes>46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63" baseType="lpstr">
      <vt:lpstr>Manrope SemiBold</vt:lpstr>
      <vt:lpstr>Albert Sans</vt:lpstr>
      <vt:lpstr>Manrope</vt:lpstr>
      <vt:lpstr>Montserrat</vt:lpstr>
      <vt:lpstr>Cambria Math</vt:lpstr>
      <vt:lpstr>Arial</vt:lpstr>
      <vt:lpstr>Monotype Sorts</vt:lpstr>
      <vt:lpstr>Alexandria Medium</vt:lpstr>
      <vt:lpstr>Lead Funnel by Slidesgo</vt:lpstr>
      <vt:lpstr>Основы пневмоавтоматики</vt:lpstr>
      <vt:lpstr>Физика в пневмосистемах</vt:lpstr>
      <vt:lpstr>Что такое пневматика?</vt:lpstr>
      <vt:lpstr>Физические основы. Давление</vt:lpstr>
      <vt:lpstr>Физические основы. Давление</vt:lpstr>
      <vt:lpstr>Физические основы. Расход</vt:lpstr>
      <vt:lpstr>Основные физические свойства газов</vt:lpstr>
      <vt:lpstr>Компоненты пневмосистем</vt:lpstr>
      <vt:lpstr>Зачем нужны пневмосистемы?</vt:lpstr>
      <vt:lpstr>Презентация PowerPoint</vt:lpstr>
      <vt:lpstr>Компоненты пневмосистем</vt:lpstr>
      <vt:lpstr>Компрессор</vt:lpstr>
      <vt:lpstr>Поршневой компрессор</vt:lpstr>
      <vt:lpstr>Мембранный компрессор </vt:lpstr>
      <vt:lpstr>Винтовой компрессор </vt:lpstr>
      <vt:lpstr>Пластинчатый компрессор</vt:lpstr>
      <vt:lpstr>Осевой компрессор</vt:lpstr>
      <vt:lpstr>Осевой компрессор </vt:lpstr>
      <vt:lpstr>Устройства очистки</vt:lpstr>
      <vt:lpstr>Ресивер/Пневмоаккумулятор</vt:lpstr>
      <vt:lpstr>Вариант схемы подготовки воздуха</vt:lpstr>
      <vt:lpstr>Вариант схемы подготовки воздуха</vt:lpstr>
      <vt:lpstr>Пневмоцилиндры</vt:lpstr>
      <vt:lpstr>Распределитель</vt:lpstr>
      <vt:lpstr>Распределитель</vt:lpstr>
      <vt:lpstr>Распределитель</vt:lpstr>
      <vt:lpstr>Распределитель</vt:lpstr>
      <vt:lpstr>Дроссель</vt:lpstr>
      <vt:lpstr>Захват</vt:lpstr>
      <vt:lpstr>Захват</vt:lpstr>
      <vt:lpstr>Обратный клапан</vt:lpstr>
      <vt:lpstr>Практика</vt:lpstr>
      <vt:lpstr>Задание 1</vt:lpstr>
      <vt:lpstr>Задание 2</vt:lpstr>
      <vt:lpstr>Задание 3</vt:lpstr>
      <vt:lpstr>Задание 4</vt:lpstr>
      <vt:lpstr>Задание 5</vt:lpstr>
      <vt:lpstr>Задание 6</vt:lpstr>
      <vt:lpstr>Задание 7</vt:lpstr>
      <vt:lpstr>Задание 8</vt:lpstr>
      <vt:lpstr>Задание 9</vt:lpstr>
      <vt:lpstr>Задание 10</vt:lpstr>
      <vt:lpstr>Задание 11</vt:lpstr>
      <vt:lpstr>Задание 1 решение</vt:lpstr>
      <vt:lpstr>Задание 2 решение</vt:lpstr>
      <vt:lpstr>Задание 3 решение</vt:lpstr>
      <vt:lpstr>Задание 4 решение</vt:lpstr>
      <vt:lpstr>Задание 5 решение</vt:lpstr>
      <vt:lpstr>Задание 6 решение</vt:lpstr>
      <vt:lpstr>Задание 7 решение</vt:lpstr>
      <vt:lpstr>Задание 8 решение</vt:lpstr>
      <vt:lpstr>Задание 9 решение</vt:lpstr>
      <vt:lpstr>Задание 10 решение</vt:lpstr>
      <vt:lpstr>Задание 11 решение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Katerina</dc:creator>
  <cp:lastModifiedBy>Katerina</cp:lastModifiedBy>
  <cp:revision>18</cp:revision>
  <dcterms:modified xsi:type="dcterms:W3CDTF">2025-05-04T14:58:45Z</dcterms:modified>
</cp:coreProperties>
</file>